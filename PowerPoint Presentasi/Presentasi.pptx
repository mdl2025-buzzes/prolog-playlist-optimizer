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เอฟซี แคนดี้" charset="1" panose="020B0500040200020003"/>
      <p:regular r:id="rId20"/>
    </p:embeddedFont>
    <p:embeddedFont>
      <p:font typeface="เอฟซี ฟรายเดย์" charset="1" panose="020B0500040200020003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26.png" Type="http://schemas.openxmlformats.org/officeDocument/2006/relationships/image"/><Relationship Id="rId13" Target="../media/image27.svg" Type="http://schemas.openxmlformats.org/officeDocument/2006/relationships/image"/><Relationship Id="rId14" Target="../media/image16.png" Type="http://schemas.openxmlformats.org/officeDocument/2006/relationships/image"/><Relationship Id="rId15" Target="../media/image17.svg" Type="http://schemas.openxmlformats.org/officeDocument/2006/relationships/image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26.png" Type="http://schemas.openxmlformats.org/officeDocument/2006/relationships/image"/><Relationship Id="rId13" Target="../media/image27.svg" Type="http://schemas.openxmlformats.org/officeDocument/2006/relationships/image"/><Relationship Id="rId14" Target="../media/image16.png" Type="http://schemas.openxmlformats.org/officeDocument/2006/relationships/image"/><Relationship Id="rId15" Target="../media/image17.svg" Type="http://schemas.openxmlformats.org/officeDocument/2006/relationships/image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26.png" Type="http://schemas.openxmlformats.org/officeDocument/2006/relationships/image"/><Relationship Id="rId13" Target="../media/image27.svg" Type="http://schemas.openxmlformats.org/officeDocument/2006/relationships/image"/><Relationship Id="rId14" Target="../media/image16.png" Type="http://schemas.openxmlformats.org/officeDocument/2006/relationships/image"/><Relationship Id="rId15" Target="../media/image17.svg" Type="http://schemas.openxmlformats.org/officeDocument/2006/relationships/image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26.png" Type="http://schemas.openxmlformats.org/officeDocument/2006/relationships/image"/><Relationship Id="rId13" Target="../media/image27.svg" Type="http://schemas.openxmlformats.org/officeDocument/2006/relationships/image"/><Relationship Id="rId14" Target="../media/image16.png" Type="http://schemas.openxmlformats.org/officeDocument/2006/relationships/image"/><Relationship Id="rId15" Target="../media/image17.svg" Type="http://schemas.openxmlformats.org/officeDocument/2006/relationships/image"/><Relationship Id="rId16" Target="../media/image28.png" Type="http://schemas.openxmlformats.org/officeDocument/2006/relationships/image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26.png" Type="http://schemas.openxmlformats.org/officeDocument/2006/relationships/image"/><Relationship Id="rId13" Target="../media/image27.svg" Type="http://schemas.openxmlformats.org/officeDocument/2006/relationships/image"/><Relationship Id="rId14" Target="../media/image16.png" Type="http://schemas.openxmlformats.org/officeDocument/2006/relationships/image"/><Relationship Id="rId15" Target="../media/image17.svg" Type="http://schemas.openxmlformats.org/officeDocument/2006/relationships/image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svg" Type="http://schemas.openxmlformats.org/officeDocument/2006/relationships/image"/><Relationship Id="rId12" Target="../media/image29.png" Type="http://schemas.openxmlformats.org/officeDocument/2006/relationships/image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26.png" Type="http://schemas.openxmlformats.org/officeDocument/2006/relationships/image"/><Relationship Id="rId9" Target="../media/image2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svg" Type="http://schemas.openxmlformats.org/officeDocument/2006/relationships/image"/><Relationship Id="rId12" Target="../media/image29.png" Type="http://schemas.openxmlformats.org/officeDocument/2006/relationships/image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26.png" Type="http://schemas.openxmlformats.org/officeDocument/2006/relationships/image"/><Relationship Id="rId9" Target="../media/image2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svg" Type="http://schemas.openxmlformats.org/officeDocument/2006/relationships/image"/><Relationship Id="rId12" Target="../media/image30.png" Type="http://schemas.openxmlformats.org/officeDocument/2006/relationships/image"/><Relationship Id="rId13" Target="../media/image31.png" Type="http://schemas.openxmlformats.org/officeDocument/2006/relationships/image"/><Relationship Id="rId14" Target="../media/image32.png" Type="http://schemas.openxmlformats.org/officeDocument/2006/relationships/image"/><Relationship Id="rId15" Target="../media/image33.png" Type="http://schemas.openxmlformats.org/officeDocument/2006/relationships/image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26.png" Type="http://schemas.openxmlformats.org/officeDocument/2006/relationships/image"/><Relationship Id="rId9" Target="../media/image27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svg" Type="http://schemas.openxmlformats.org/officeDocument/2006/relationships/image"/><Relationship Id="rId12" Target="../media/image34.png" Type="http://schemas.openxmlformats.org/officeDocument/2006/relationships/image"/><Relationship Id="rId13" Target="../media/image35.png" Type="http://schemas.openxmlformats.org/officeDocument/2006/relationships/image"/><Relationship Id="rId14" Target="../media/image36.png" Type="http://schemas.openxmlformats.org/officeDocument/2006/relationships/image"/><Relationship Id="rId15" Target="../media/image37.png" Type="http://schemas.openxmlformats.org/officeDocument/2006/relationships/image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26.png" Type="http://schemas.openxmlformats.org/officeDocument/2006/relationships/image"/><Relationship Id="rId9" Target="../media/image27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26.png" Type="http://schemas.openxmlformats.org/officeDocument/2006/relationships/image"/><Relationship Id="rId13" Target="../media/image27.svg" Type="http://schemas.openxmlformats.org/officeDocument/2006/relationships/image"/><Relationship Id="rId14" Target="../media/image16.png" Type="http://schemas.openxmlformats.org/officeDocument/2006/relationships/image"/><Relationship Id="rId15" Target="../media/image17.svg" Type="http://schemas.openxmlformats.org/officeDocument/2006/relationships/image"/><Relationship Id="rId16" Target="../media/image29.png" Type="http://schemas.openxmlformats.org/officeDocument/2006/relationships/image"/><Relationship Id="rId17" Target="../media/image38.png" Type="http://schemas.openxmlformats.org/officeDocument/2006/relationships/image"/><Relationship Id="rId18" Target="../media/image39.png" Type="http://schemas.openxmlformats.org/officeDocument/2006/relationships/image"/><Relationship Id="rId19" Target="../media/image40.png" Type="http://schemas.openxmlformats.org/officeDocument/2006/relationships/image"/><Relationship Id="rId2" Target="../media/image18.png" Type="http://schemas.openxmlformats.org/officeDocument/2006/relationships/image"/><Relationship Id="rId20" Target="../media/image41.svg" Type="http://schemas.openxmlformats.org/officeDocument/2006/relationships/image"/><Relationship Id="rId3" Target="../media/image19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26.png" Type="http://schemas.openxmlformats.org/officeDocument/2006/relationships/image"/><Relationship Id="rId13" Target="../media/image27.svg" Type="http://schemas.openxmlformats.org/officeDocument/2006/relationships/image"/><Relationship Id="rId14" Target="../media/image16.png" Type="http://schemas.openxmlformats.org/officeDocument/2006/relationships/image"/><Relationship Id="rId15" Target="../media/image17.svg" Type="http://schemas.openxmlformats.org/officeDocument/2006/relationships/image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26.png" Type="http://schemas.openxmlformats.org/officeDocument/2006/relationships/image"/><Relationship Id="rId13" Target="../media/image27.svg" Type="http://schemas.openxmlformats.org/officeDocument/2006/relationships/image"/><Relationship Id="rId14" Target="../media/image16.png" Type="http://schemas.openxmlformats.org/officeDocument/2006/relationships/image"/><Relationship Id="rId15" Target="../media/image17.svg" Type="http://schemas.openxmlformats.org/officeDocument/2006/relationships/image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24.png" Type="http://schemas.openxmlformats.org/officeDocument/2006/relationships/image"/><Relationship Id="rId13" Target="../media/image25.svg" Type="http://schemas.openxmlformats.org/officeDocument/2006/relationships/image"/><Relationship Id="rId14" Target="../media/image9.png" Type="http://schemas.openxmlformats.org/officeDocument/2006/relationships/image"/><Relationship Id="rId15" Target="../media/image10.svg" Type="http://schemas.openxmlformats.org/officeDocument/2006/relationships/image"/><Relationship Id="rId16" Target="../media/image44.png" Type="http://schemas.openxmlformats.org/officeDocument/2006/relationships/image"/><Relationship Id="rId17" Target="../media/image45.svg" Type="http://schemas.openxmlformats.org/officeDocument/2006/relationships/image"/><Relationship Id="rId18" Target="../media/image11.png" Type="http://schemas.openxmlformats.org/officeDocument/2006/relationships/image"/><Relationship Id="rId19" Target="../media/image12.svg" Type="http://schemas.openxmlformats.org/officeDocument/2006/relationships/image"/><Relationship Id="rId2" Target="../media/image1.png" Type="http://schemas.openxmlformats.org/officeDocument/2006/relationships/image"/><Relationship Id="rId20" Target="../media/image13.png" Type="http://schemas.openxmlformats.org/officeDocument/2006/relationships/image"/><Relationship Id="rId21" Target="../media/image14.svg" Type="http://schemas.openxmlformats.org/officeDocument/2006/relationships/image"/><Relationship Id="rId22" Target="../media/image26.png" Type="http://schemas.openxmlformats.org/officeDocument/2006/relationships/image"/><Relationship Id="rId23" Target="../media/image27.svg" Type="http://schemas.openxmlformats.org/officeDocument/2006/relationships/image"/><Relationship Id="rId24" Target="../media/image16.png" Type="http://schemas.openxmlformats.org/officeDocument/2006/relationships/image"/><Relationship Id="rId25" Target="../media/image17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42.png" Type="http://schemas.openxmlformats.org/officeDocument/2006/relationships/image"/><Relationship Id="rId9" Target="../media/image4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2672286" y="-5894890"/>
            <a:ext cx="12943428" cy="19719904"/>
          </a:xfrm>
          <a:custGeom>
            <a:avLst/>
            <a:gdLst/>
            <a:ahLst/>
            <a:cxnLst/>
            <a:rect r="r" b="b" t="t" l="l"/>
            <a:pathLst>
              <a:path h="19719904" w="12943428">
                <a:moveTo>
                  <a:pt x="0" y="0"/>
                </a:moveTo>
                <a:lnTo>
                  <a:pt x="12943428" y="0"/>
                </a:lnTo>
                <a:lnTo>
                  <a:pt x="12943428" y="19719904"/>
                </a:lnTo>
                <a:lnTo>
                  <a:pt x="0" y="197199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560826" y="2329400"/>
            <a:ext cx="13166347" cy="6431503"/>
            <a:chOff x="0" y="0"/>
            <a:chExt cx="3467680" cy="169389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467680" cy="1693894"/>
            </a:xfrm>
            <a:custGeom>
              <a:avLst/>
              <a:gdLst/>
              <a:ahLst/>
              <a:cxnLst/>
              <a:rect r="r" b="b" t="t" l="l"/>
              <a:pathLst>
                <a:path h="1693894" w="3467680">
                  <a:moveTo>
                    <a:pt x="0" y="0"/>
                  </a:moveTo>
                  <a:lnTo>
                    <a:pt x="3467680" y="0"/>
                  </a:lnTo>
                  <a:lnTo>
                    <a:pt x="3467680" y="1693894"/>
                  </a:lnTo>
                  <a:lnTo>
                    <a:pt x="0" y="169389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3467680" cy="17415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1803284">
            <a:off x="15751225" y="7951694"/>
            <a:ext cx="4565737" cy="4114800"/>
          </a:xfrm>
          <a:custGeom>
            <a:avLst/>
            <a:gdLst/>
            <a:ahLst/>
            <a:cxnLst/>
            <a:rect r="r" b="b" t="t" l="l"/>
            <a:pathLst>
              <a:path h="4114800" w="4565737">
                <a:moveTo>
                  <a:pt x="0" y="0"/>
                </a:moveTo>
                <a:lnTo>
                  <a:pt x="4565737" y="0"/>
                </a:lnTo>
                <a:lnTo>
                  <a:pt x="45657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6581405">
            <a:off x="15536892" y="-1615299"/>
            <a:ext cx="4565737" cy="4114800"/>
          </a:xfrm>
          <a:custGeom>
            <a:avLst/>
            <a:gdLst/>
            <a:ahLst/>
            <a:cxnLst/>
            <a:rect r="r" b="b" t="t" l="l"/>
            <a:pathLst>
              <a:path h="4114800" w="4565737">
                <a:moveTo>
                  <a:pt x="0" y="0"/>
                </a:moveTo>
                <a:lnTo>
                  <a:pt x="4565737" y="0"/>
                </a:lnTo>
                <a:lnTo>
                  <a:pt x="45657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743200" y="1675430"/>
            <a:ext cx="12801600" cy="6936140"/>
          </a:xfrm>
          <a:custGeom>
            <a:avLst/>
            <a:gdLst/>
            <a:ahLst/>
            <a:cxnLst/>
            <a:rect r="r" b="b" t="t" l="l"/>
            <a:pathLst>
              <a:path h="6936140" w="12801600">
                <a:moveTo>
                  <a:pt x="0" y="0"/>
                </a:moveTo>
                <a:lnTo>
                  <a:pt x="12801600" y="0"/>
                </a:lnTo>
                <a:lnTo>
                  <a:pt x="12801600" y="6936140"/>
                </a:lnTo>
                <a:lnTo>
                  <a:pt x="0" y="69361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135644">
            <a:off x="1149920" y="-128153"/>
            <a:ext cx="2358195" cy="1140509"/>
          </a:xfrm>
          <a:custGeom>
            <a:avLst/>
            <a:gdLst/>
            <a:ahLst/>
            <a:cxnLst/>
            <a:rect r="r" b="b" t="t" l="l"/>
            <a:pathLst>
              <a:path h="1140509" w="2358195">
                <a:moveTo>
                  <a:pt x="0" y="0"/>
                </a:moveTo>
                <a:lnTo>
                  <a:pt x="2358195" y="0"/>
                </a:lnTo>
                <a:lnTo>
                  <a:pt x="2358195" y="1140509"/>
                </a:lnTo>
                <a:lnTo>
                  <a:pt x="0" y="11405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385659">
            <a:off x="-6383" y="7735047"/>
            <a:ext cx="3169782" cy="2051713"/>
          </a:xfrm>
          <a:custGeom>
            <a:avLst/>
            <a:gdLst/>
            <a:ahLst/>
            <a:cxnLst/>
            <a:rect r="r" b="b" t="t" l="l"/>
            <a:pathLst>
              <a:path h="2051713" w="3169782">
                <a:moveTo>
                  <a:pt x="0" y="0"/>
                </a:moveTo>
                <a:lnTo>
                  <a:pt x="3169782" y="0"/>
                </a:lnTo>
                <a:lnTo>
                  <a:pt x="3169782" y="2051713"/>
                </a:lnTo>
                <a:lnTo>
                  <a:pt x="0" y="205171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-571104">
            <a:off x="15250534" y="498029"/>
            <a:ext cx="2625618" cy="1876124"/>
          </a:xfrm>
          <a:custGeom>
            <a:avLst/>
            <a:gdLst/>
            <a:ahLst/>
            <a:cxnLst/>
            <a:rect r="r" b="b" t="t" l="l"/>
            <a:pathLst>
              <a:path h="1876124" w="2625618">
                <a:moveTo>
                  <a:pt x="0" y="0"/>
                </a:moveTo>
                <a:lnTo>
                  <a:pt x="2625619" y="0"/>
                </a:lnTo>
                <a:lnTo>
                  <a:pt x="2625619" y="1876123"/>
                </a:lnTo>
                <a:lnTo>
                  <a:pt x="0" y="18761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826037" y="2360825"/>
            <a:ext cx="10932011" cy="3179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15"/>
              </a:lnSpc>
            </a:pPr>
            <a:r>
              <a:rPr lang="en-US" sz="13500">
                <a:solidFill>
                  <a:srgbClr val="FAF8F4"/>
                </a:solidFill>
                <a:latin typeface="เอฟซี แคนดี้"/>
                <a:ea typeface="เอฟซี แคนดี้"/>
                <a:cs typeface="เอฟซี แคนดี้"/>
                <a:sym typeface="เอฟซี แคนดี้"/>
              </a:rPr>
              <a:t>Playlist Optimizer 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394153">
            <a:off x="6472121" y="1533763"/>
            <a:ext cx="4605039" cy="854025"/>
          </a:xfrm>
          <a:custGeom>
            <a:avLst/>
            <a:gdLst/>
            <a:ahLst/>
            <a:cxnLst/>
            <a:rect r="r" b="b" t="t" l="l"/>
            <a:pathLst>
              <a:path h="854025" w="4605039">
                <a:moveTo>
                  <a:pt x="0" y="0"/>
                </a:moveTo>
                <a:lnTo>
                  <a:pt x="4605039" y="0"/>
                </a:lnTo>
                <a:lnTo>
                  <a:pt x="4605039" y="854025"/>
                </a:lnTo>
                <a:lnTo>
                  <a:pt x="0" y="85402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4833887">
            <a:off x="12144053" y="2371072"/>
            <a:ext cx="317057" cy="342765"/>
          </a:xfrm>
          <a:custGeom>
            <a:avLst/>
            <a:gdLst/>
            <a:ahLst/>
            <a:cxnLst/>
            <a:rect r="r" b="b" t="t" l="l"/>
            <a:pathLst>
              <a:path h="342765" w="317057">
                <a:moveTo>
                  <a:pt x="0" y="0"/>
                </a:moveTo>
                <a:lnTo>
                  <a:pt x="317057" y="0"/>
                </a:lnTo>
                <a:lnTo>
                  <a:pt x="317057" y="342765"/>
                </a:lnTo>
                <a:lnTo>
                  <a:pt x="0" y="34276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8996715">
            <a:off x="-1818602" y="-1615299"/>
            <a:ext cx="4565737" cy="4114800"/>
          </a:xfrm>
          <a:custGeom>
            <a:avLst/>
            <a:gdLst/>
            <a:ahLst/>
            <a:cxnLst/>
            <a:rect r="r" b="b" t="t" l="l"/>
            <a:pathLst>
              <a:path h="4114800" w="4565737">
                <a:moveTo>
                  <a:pt x="0" y="0"/>
                </a:moveTo>
                <a:lnTo>
                  <a:pt x="4565737" y="0"/>
                </a:lnTo>
                <a:lnTo>
                  <a:pt x="45657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4218594">
            <a:off x="-1818602" y="7951694"/>
            <a:ext cx="4565737" cy="4114800"/>
          </a:xfrm>
          <a:custGeom>
            <a:avLst/>
            <a:gdLst/>
            <a:ahLst/>
            <a:cxnLst/>
            <a:rect r="r" b="b" t="t" l="l"/>
            <a:pathLst>
              <a:path h="4114800" w="4565737">
                <a:moveTo>
                  <a:pt x="0" y="0"/>
                </a:moveTo>
                <a:lnTo>
                  <a:pt x="4565737" y="0"/>
                </a:lnTo>
                <a:lnTo>
                  <a:pt x="45657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470599" y="5691169"/>
            <a:ext cx="6607067" cy="139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7B5344"/>
                </a:solidFill>
                <a:latin typeface="เอฟซี ฟรายเดย์"/>
                <a:ea typeface="เอฟซี ฟรายเดย์"/>
                <a:cs typeface="เอฟซี ฟรายเดย์"/>
                <a:sym typeface="เอฟซี ฟรายเดย์"/>
              </a:rPr>
              <a:t>Arkan Ramadhan Nugraha 241524033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5727174" y="7564069"/>
            <a:ext cx="2133323" cy="2438964"/>
          </a:xfrm>
          <a:custGeom>
            <a:avLst/>
            <a:gdLst/>
            <a:ahLst/>
            <a:cxnLst/>
            <a:rect r="r" b="b" t="t" l="l"/>
            <a:pathLst>
              <a:path h="2438964" w="2133323">
                <a:moveTo>
                  <a:pt x="0" y="0"/>
                </a:moveTo>
                <a:lnTo>
                  <a:pt x="2133323" y="0"/>
                </a:lnTo>
                <a:lnTo>
                  <a:pt x="2133323" y="2438964"/>
                </a:lnTo>
                <a:lnTo>
                  <a:pt x="0" y="2438964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9" id="19"/>
          <p:cNvSpPr txBox="true"/>
          <p:nvPr/>
        </p:nvSpPr>
        <p:spPr>
          <a:xfrm rot="0">
            <a:off x="8843495" y="5706810"/>
            <a:ext cx="6528069" cy="1378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33"/>
              </a:lnSpc>
            </a:pPr>
            <a:r>
              <a:rPr lang="en-US" sz="3952">
                <a:solidFill>
                  <a:srgbClr val="7B5344"/>
                </a:solidFill>
                <a:latin typeface="เอฟซี ฟรายเดย์"/>
                <a:ea typeface="เอฟซี ฟรายเดย์"/>
                <a:cs typeface="เอฟซี ฟรายเดย์"/>
                <a:sym typeface="เอฟซี ฟรายเดย์"/>
              </a:rPr>
              <a:t>Julian Dio Saputra </a:t>
            </a:r>
          </a:p>
          <a:p>
            <a:pPr algn="ctr">
              <a:lnSpc>
                <a:spcPts val="5533"/>
              </a:lnSpc>
            </a:pPr>
            <a:r>
              <a:rPr lang="en-US" sz="3952">
                <a:solidFill>
                  <a:srgbClr val="7B5344"/>
                </a:solidFill>
                <a:latin typeface="เอฟซี ฟรายเดย์"/>
                <a:ea typeface="เอฟซี ฟรายเดย์"/>
                <a:cs typeface="เอฟซี ฟรายเดย์"/>
                <a:sym typeface="เอฟซี ฟรายเดย์"/>
              </a:rPr>
              <a:t>241524049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3347800" y="-2605950"/>
            <a:ext cx="11592399" cy="17661550"/>
          </a:xfrm>
          <a:custGeom>
            <a:avLst/>
            <a:gdLst/>
            <a:ahLst/>
            <a:cxnLst/>
            <a:rect r="r" b="b" t="t" l="l"/>
            <a:pathLst>
              <a:path h="17661550" w="11592399">
                <a:moveTo>
                  <a:pt x="0" y="0"/>
                </a:moveTo>
                <a:lnTo>
                  <a:pt x="11592400" y="0"/>
                </a:lnTo>
                <a:lnTo>
                  <a:pt x="11592400" y="17661549"/>
                </a:lnTo>
                <a:lnTo>
                  <a:pt x="0" y="17661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19044" y="115888"/>
            <a:ext cx="11649912" cy="1635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00"/>
              </a:lnSpc>
            </a:pPr>
            <a:r>
              <a:rPr lang="en-US" sz="9500">
                <a:solidFill>
                  <a:srgbClr val="FAF8F4"/>
                </a:solidFill>
                <a:latin typeface="เอฟซี แคนดี้"/>
                <a:ea typeface="เอฟซี แคนดี้"/>
                <a:cs typeface="เอฟซี แคนดี้"/>
                <a:sym typeface="เอฟซี แคนดี้"/>
              </a:rPr>
              <a:t>Background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2318935">
            <a:off x="-93280" y="162820"/>
            <a:ext cx="1632129" cy="2301720"/>
          </a:xfrm>
          <a:custGeom>
            <a:avLst/>
            <a:gdLst/>
            <a:ahLst/>
            <a:cxnLst/>
            <a:rect r="r" b="b" t="t" l="l"/>
            <a:pathLst>
              <a:path h="2301720" w="1632129">
                <a:moveTo>
                  <a:pt x="0" y="0"/>
                </a:moveTo>
                <a:lnTo>
                  <a:pt x="1632129" y="0"/>
                </a:lnTo>
                <a:lnTo>
                  <a:pt x="1632129" y="2301720"/>
                </a:lnTo>
                <a:lnTo>
                  <a:pt x="0" y="23017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-2318935">
            <a:off x="-52794" y="245062"/>
            <a:ext cx="1537093" cy="2167695"/>
          </a:xfrm>
          <a:custGeom>
            <a:avLst/>
            <a:gdLst/>
            <a:ahLst/>
            <a:cxnLst/>
            <a:rect r="r" b="b" t="t" l="l"/>
            <a:pathLst>
              <a:path h="2167695" w="1537093">
                <a:moveTo>
                  <a:pt x="0" y="0"/>
                </a:moveTo>
                <a:lnTo>
                  <a:pt x="1537093" y="0"/>
                </a:lnTo>
                <a:lnTo>
                  <a:pt x="1537093" y="2167695"/>
                </a:lnTo>
                <a:lnTo>
                  <a:pt x="0" y="21676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385659">
            <a:off x="-517286" y="8123373"/>
            <a:ext cx="3506797" cy="2269854"/>
          </a:xfrm>
          <a:custGeom>
            <a:avLst/>
            <a:gdLst/>
            <a:ahLst/>
            <a:cxnLst/>
            <a:rect r="r" b="b" t="t" l="l"/>
            <a:pathLst>
              <a:path h="2269854" w="3506797">
                <a:moveTo>
                  <a:pt x="0" y="0"/>
                </a:moveTo>
                <a:lnTo>
                  <a:pt x="3506798" y="0"/>
                </a:lnTo>
                <a:lnTo>
                  <a:pt x="3506798" y="2269854"/>
                </a:lnTo>
                <a:lnTo>
                  <a:pt x="0" y="22698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385659">
            <a:off x="-348778" y="8232443"/>
            <a:ext cx="3169782" cy="2051713"/>
          </a:xfrm>
          <a:custGeom>
            <a:avLst/>
            <a:gdLst/>
            <a:ahLst/>
            <a:cxnLst/>
            <a:rect r="r" b="b" t="t" l="l"/>
            <a:pathLst>
              <a:path h="2051713" w="3169782">
                <a:moveTo>
                  <a:pt x="0" y="0"/>
                </a:moveTo>
                <a:lnTo>
                  <a:pt x="3169782" y="0"/>
                </a:lnTo>
                <a:lnTo>
                  <a:pt x="3169782" y="2051714"/>
                </a:lnTo>
                <a:lnTo>
                  <a:pt x="0" y="20517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1469450" y="2429507"/>
            <a:ext cx="15349099" cy="209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7B5344"/>
                </a:solidFill>
                <a:latin typeface="เอฟซี ฟรายเดย์"/>
                <a:ea typeface="เอฟซี ฟรายเดย์"/>
                <a:cs typeface="เอฟซี ฟรายเดย์"/>
                <a:sym typeface="เอฟซี ฟรายเดย์"/>
              </a:rPr>
              <a:t>Playlist musik seringkali memiliki transisi antar lagu yang kasar, dimana bisa terjadi perpindahan lagu dengan energi dan mood yang sangat berbeda. Hal ini dapat mengganggu pengalaman mendengarkan pengguna.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69450" y="4497774"/>
            <a:ext cx="15349099" cy="3508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7B5344"/>
                </a:solidFill>
                <a:latin typeface="เอฟซี ฟรายเดย์"/>
                <a:ea typeface="เอฟซี ฟรายเดย์"/>
                <a:cs typeface="เอฟซี ฟรายเดย์"/>
                <a:sym typeface="เอฟซี ฟรายเดย์"/>
              </a:rPr>
              <a:t>Sebagai contoh, terkadang dari lagu yang tenang bisa bertransisi menjadi lagu yang sangat energik sehingga terjadi "audio jumpscare" </a:t>
            </a:r>
          </a:p>
          <a:p>
            <a:pPr algn="just">
              <a:lnSpc>
                <a:spcPts val="5599"/>
              </a:lnSpc>
            </a:pPr>
          </a:p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7B5344"/>
                </a:solidFill>
                <a:latin typeface="เอฟซี ฟรายเดย์"/>
                <a:ea typeface="เอฟซี ฟรายเดย์"/>
                <a:cs typeface="เอฟซี ฟรายเดย์"/>
                <a:sym typeface="เอฟซี ฟรายเดย์"/>
              </a:rPr>
              <a:t>Dampaknya alur playlist menjadi tidak Koheren dan pengalaman pengguna menurun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6127400" y="7934216"/>
            <a:ext cx="2375102" cy="2715383"/>
            <a:chOff x="0" y="0"/>
            <a:chExt cx="3166803" cy="362051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166803" cy="3620510"/>
            </a:xfrm>
            <a:custGeom>
              <a:avLst/>
              <a:gdLst/>
              <a:ahLst/>
              <a:cxnLst/>
              <a:rect r="r" b="b" t="t" l="l"/>
              <a:pathLst>
                <a:path h="3620510" w="3166803">
                  <a:moveTo>
                    <a:pt x="0" y="0"/>
                  </a:moveTo>
                  <a:lnTo>
                    <a:pt x="3166803" y="0"/>
                  </a:lnTo>
                  <a:lnTo>
                    <a:pt x="3166803" y="3620510"/>
                  </a:lnTo>
                  <a:lnTo>
                    <a:pt x="0" y="36205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91261" y="104336"/>
              <a:ext cx="2984281" cy="3411838"/>
            </a:xfrm>
            <a:custGeom>
              <a:avLst/>
              <a:gdLst/>
              <a:ahLst/>
              <a:cxnLst/>
              <a:rect r="r" b="b" t="t" l="l"/>
              <a:pathLst>
                <a:path h="3411838" w="2984281">
                  <a:moveTo>
                    <a:pt x="0" y="0"/>
                  </a:moveTo>
                  <a:lnTo>
                    <a:pt x="2984281" y="0"/>
                  </a:lnTo>
                  <a:lnTo>
                    <a:pt x="2984281" y="3411838"/>
                  </a:lnTo>
                  <a:lnTo>
                    <a:pt x="0" y="34118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2879984" y="-4589443"/>
            <a:ext cx="12538482" cy="19102950"/>
          </a:xfrm>
          <a:custGeom>
            <a:avLst/>
            <a:gdLst/>
            <a:ahLst/>
            <a:cxnLst/>
            <a:rect r="r" b="b" t="t" l="l"/>
            <a:pathLst>
              <a:path h="19102950" w="12538482">
                <a:moveTo>
                  <a:pt x="0" y="0"/>
                </a:moveTo>
                <a:lnTo>
                  <a:pt x="12538482" y="0"/>
                </a:lnTo>
                <a:lnTo>
                  <a:pt x="12538482" y="19102950"/>
                </a:lnTo>
                <a:lnTo>
                  <a:pt x="0" y="191029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318935">
            <a:off x="-93280" y="162820"/>
            <a:ext cx="1632129" cy="2301720"/>
          </a:xfrm>
          <a:custGeom>
            <a:avLst/>
            <a:gdLst/>
            <a:ahLst/>
            <a:cxnLst/>
            <a:rect r="r" b="b" t="t" l="l"/>
            <a:pathLst>
              <a:path h="2301720" w="1632129">
                <a:moveTo>
                  <a:pt x="0" y="0"/>
                </a:moveTo>
                <a:lnTo>
                  <a:pt x="1632129" y="0"/>
                </a:lnTo>
                <a:lnTo>
                  <a:pt x="1632129" y="2301720"/>
                </a:lnTo>
                <a:lnTo>
                  <a:pt x="0" y="23017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2318935">
            <a:off x="-52794" y="245062"/>
            <a:ext cx="1537093" cy="2167695"/>
          </a:xfrm>
          <a:custGeom>
            <a:avLst/>
            <a:gdLst/>
            <a:ahLst/>
            <a:cxnLst/>
            <a:rect r="r" b="b" t="t" l="l"/>
            <a:pathLst>
              <a:path h="2167695" w="1537093">
                <a:moveTo>
                  <a:pt x="0" y="0"/>
                </a:moveTo>
                <a:lnTo>
                  <a:pt x="1537093" y="0"/>
                </a:lnTo>
                <a:lnTo>
                  <a:pt x="1537093" y="2167695"/>
                </a:lnTo>
                <a:lnTo>
                  <a:pt x="0" y="21676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385659">
            <a:off x="-2360039" y="7368004"/>
            <a:ext cx="3506797" cy="2269854"/>
          </a:xfrm>
          <a:custGeom>
            <a:avLst/>
            <a:gdLst/>
            <a:ahLst/>
            <a:cxnLst/>
            <a:rect r="r" b="b" t="t" l="l"/>
            <a:pathLst>
              <a:path h="2269854" w="3506797">
                <a:moveTo>
                  <a:pt x="0" y="0"/>
                </a:moveTo>
                <a:lnTo>
                  <a:pt x="3506797" y="0"/>
                </a:lnTo>
                <a:lnTo>
                  <a:pt x="3506797" y="2269855"/>
                </a:lnTo>
                <a:lnTo>
                  <a:pt x="0" y="22698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1561009" y="2225674"/>
            <a:ext cx="7365251" cy="2797175"/>
            <a:chOff x="0" y="0"/>
            <a:chExt cx="2479047" cy="9414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79048" cy="941493"/>
            </a:xfrm>
            <a:custGeom>
              <a:avLst/>
              <a:gdLst/>
              <a:ahLst/>
              <a:cxnLst/>
              <a:rect r="r" b="b" t="t" l="l"/>
              <a:pathLst>
                <a:path h="941493" w="2479048">
                  <a:moveTo>
                    <a:pt x="30483" y="0"/>
                  </a:moveTo>
                  <a:lnTo>
                    <a:pt x="2448564" y="0"/>
                  </a:lnTo>
                  <a:cubicBezTo>
                    <a:pt x="2456649" y="0"/>
                    <a:pt x="2464402" y="3212"/>
                    <a:pt x="2470119" y="8928"/>
                  </a:cubicBezTo>
                  <a:cubicBezTo>
                    <a:pt x="2475836" y="14645"/>
                    <a:pt x="2479048" y="22398"/>
                    <a:pt x="2479048" y="30483"/>
                  </a:cubicBezTo>
                  <a:lnTo>
                    <a:pt x="2479048" y="911009"/>
                  </a:lnTo>
                  <a:cubicBezTo>
                    <a:pt x="2479048" y="927845"/>
                    <a:pt x="2465400" y="941493"/>
                    <a:pt x="2448564" y="941493"/>
                  </a:cubicBezTo>
                  <a:lnTo>
                    <a:pt x="30483" y="941493"/>
                  </a:lnTo>
                  <a:cubicBezTo>
                    <a:pt x="22398" y="941493"/>
                    <a:pt x="14645" y="938281"/>
                    <a:pt x="8928" y="932564"/>
                  </a:cubicBezTo>
                  <a:cubicBezTo>
                    <a:pt x="3212" y="926848"/>
                    <a:pt x="0" y="919094"/>
                    <a:pt x="0" y="911009"/>
                  </a:cubicBezTo>
                  <a:lnTo>
                    <a:pt x="0" y="30483"/>
                  </a:lnTo>
                  <a:cubicBezTo>
                    <a:pt x="0" y="22398"/>
                    <a:pt x="3212" y="14645"/>
                    <a:pt x="8928" y="8928"/>
                  </a:cubicBezTo>
                  <a:cubicBezTo>
                    <a:pt x="14645" y="3212"/>
                    <a:pt x="22398" y="0"/>
                    <a:pt x="30483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A48C7E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479047" cy="9891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781938" y="2158999"/>
            <a:ext cx="6788641" cy="281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600"/>
              </a:lnSpc>
            </a:pPr>
            <a:r>
              <a:rPr lang="en-US" sz="4000">
                <a:solidFill>
                  <a:srgbClr val="7B5344"/>
                </a:solidFill>
                <a:latin typeface="เอฟซี ฟรายเดย์"/>
                <a:ea typeface="เอฟซี ฟรายเดย์"/>
                <a:cs typeface="เอฟซี ฟรายเดย์"/>
                <a:sym typeface="เอฟซี ฟรายเดย์"/>
              </a:rPr>
              <a:t>Proses Input manual</a:t>
            </a:r>
          </a:p>
          <a:p>
            <a:pPr algn="just" marL="863601" indent="-431801" lvl="1">
              <a:lnSpc>
                <a:spcPts val="5600"/>
              </a:lnSpc>
              <a:buFont typeface="Arial"/>
              <a:buChar char="•"/>
            </a:pPr>
            <a:r>
              <a:rPr lang="en-US" sz="4000">
                <a:solidFill>
                  <a:srgbClr val="7B5344"/>
                </a:solidFill>
                <a:latin typeface="เอฟซี ฟรายเดย์"/>
                <a:ea typeface="เอฟซี ฟรายเดย์"/>
                <a:cs typeface="เอฟซี ฟรายเดย์"/>
                <a:sym typeface="เอฟซี ฟรายเดย์"/>
              </a:rPr>
              <a:t>Penambahan lagu spontan</a:t>
            </a:r>
          </a:p>
          <a:p>
            <a:pPr algn="just" marL="863601" indent="-431801" lvl="1">
              <a:lnSpc>
                <a:spcPts val="5600"/>
              </a:lnSpc>
              <a:buFont typeface="Arial"/>
              <a:buChar char="•"/>
            </a:pPr>
            <a:r>
              <a:rPr lang="en-US" sz="4000">
                <a:solidFill>
                  <a:srgbClr val="7B5344"/>
                </a:solidFill>
                <a:latin typeface="เอฟซี ฟรายเดย์"/>
                <a:ea typeface="เอฟซี ฟรายเดย์"/>
                <a:cs typeface="เอฟซี ฟรายเดย์"/>
                <a:sym typeface="เอฟซี ฟรายเดย์"/>
              </a:rPr>
              <a:t>Berfokus pada koleksi bukan alur lagu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385659">
            <a:off x="-2191532" y="7477075"/>
            <a:ext cx="3169782" cy="2051713"/>
          </a:xfrm>
          <a:custGeom>
            <a:avLst/>
            <a:gdLst/>
            <a:ahLst/>
            <a:cxnLst/>
            <a:rect r="r" b="b" t="t" l="l"/>
            <a:pathLst>
              <a:path h="2051713" w="3169782">
                <a:moveTo>
                  <a:pt x="0" y="0"/>
                </a:moveTo>
                <a:lnTo>
                  <a:pt x="3169782" y="0"/>
                </a:lnTo>
                <a:lnTo>
                  <a:pt x="3169782" y="2051713"/>
                </a:lnTo>
                <a:lnTo>
                  <a:pt x="0" y="205171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1" id="11"/>
          <p:cNvSpPr txBox="true"/>
          <p:nvPr/>
        </p:nvSpPr>
        <p:spPr>
          <a:xfrm rot="0">
            <a:off x="3319044" y="115888"/>
            <a:ext cx="11649912" cy="1635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00"/>
              </a:lnSpc>
            </a:pPr>
            <a:r>
              <a:rPr lang="en-US" sz="9500">
                <a:solidFill>
                  <a:srgbClr val="FAF8F4"/>
                </a:solidFill>
                <a:latin typeface="เอฟซี แคนดี้"/>
                <a:ea typeface="เอฟซี แคนดี้"/>
                <a:cs typeface="เอฟซี แคนดี้"/>
                <a:sym typeface="เอฟซี แคนดี้"/>
              </a:rPr>
              <a:t>Problems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4728946" y="1363959"/>
            <a:ext cx="972405" cy="972405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48C7E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651164" y="1269811"/>
            <a:ext cx="972405" cy="972405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8DDC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4408178" y="876300"/>
            <a:ext cx="1421860" cy="136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FFFFFF"/>
                </a:solidFill>
                <a:latin typeface="เอฟซี แคนดี้"/>
                <a:ea typeface="เอฟซี แคนดี้"/>
                <a:cs typeface="เอฟซี แคนดี้"/>
                <a:sym typeface="เอฟซี แคนดี้"/>
              </a:rPr>
              <a:t>1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6127400" y="7934216"/>
            <a:ext cx="2375102" cy="2715383"/>
            <a:chOff x="0" y="0"/>
            <a:chExt cx="3166803" cy="362051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166803" cy="3620510"/>
            </a:xfrm>
            <a:custGeom>
              <a:avLst/>
              <a:gdLst/>
              <a:ahLst/>
              <a:cxnLst/>
              <a:rect r="r" b="b" t="t" l="l"/>
              <a:pathLst>
                <a:path h="3620510" w="3166803">
                  <a:moveTo>
                    <a:pt x="0" y="0"/>
                  </a:moveTo>
                  <a:lnTo>
                    <a:pt x="3166803" y="0"/>
                  </a:lnTo>
                  <a:lnTo>
                    <a:pt x="3166803" y="3620510"/>
                  </a:lnTo>
                  <a:lnTo>
                    <a:pt x="0" y="36205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91261" y="104336"/>
              <a:ext cx="2984281" cy="3411838"/>
            </a:xfrm>
            <a:custGeom>
              <a:avLst/>
              <a:gdLst/>
              <a:ahLst/>
              <a:cxnLst/>
              <a:rect r="r" b="b" t="t" l="l"/>
              <a:pathLst>
                <a:path h="3411838" w="2984281">
                  <a:moveTo>
                    <a:pt x="0" y="0"/>
                  </a:moveTo>
                  <a:lnTo>
                    <a:pt x="2984281" y="0"/>
                  </a:lnTo>
                  <a:lnTo>
                    <a:pt x="2984281" y="3411838"/>
                  </a:lnTo>
                  <a:lnTo>
                    <a:pt x="0" y="34118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9894049" y="2815450"/>
            <a:ext cx="7365251" cy="1602423"/>
            <a:chOff x="0" y="0"/>
            <a:chExt cx="2479047" cy="53935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479048" cy="539355"/>
            </a:xfrm>
            <a:custGeom>
              <a:avLst/>
              <a:gdLst/>
              <a:ahLst/>
              <a:cxnLst/>
              <a:rect r="r" b="b" t="t" l="l"/>
              <a:pathLst>
                <a:path h="539355" w="2479048">
                  <a:moveTo>
                    <a:pt x="30483" y="0"/>
                  </a:moveTo>
                  <a:lnTo>
                    <a:pt x="2448564" y="0"/>
                  </a:lnTo>
                  <a:cubicBezTo>
                    <a:pt x="2456649" y="0"/>
                    <a:pt x="2464402" y="3212"/>
                    <a:pt x="2470119" y="8928"/>
                  </a:cubicBezTo>
                  <a:cubicBezTo>
                    <a:pt x="2475836" y="14645"/>
                    <a:pt x="2479048" y="22398"/>
                    <a:pt x="2479048" y="30483"/>
                  </a:cubicBezTo>
                  <a:lnTo>
                    <a:pt x="2479048" y="508871"/>
                  </a:lnTo>
                  <a:cubicBezTo>
                    <a:pt x="2479048" y="516956"/>
                    <a:pt x="2475836" y="524710"/>
                    <a:pt x="2470119" y="530426"/>
                  </a:cubicBezTo>
                  <a:cubicBezTo>
                    <a:pt x="2464402" y="536143"/>
                    <a:pt x="2456649" y="539355"/>
                    <a:pt x="2448564" y="539355"/>
                  </a:cubicBezTo>
                  <a:lnTo>
                    <a:pt x="30483" y="539355"/>
                  </a:lnTo>
                  <a:cubicBezTo>
                    <a:pt x="13648" y="539355"/>
                    <a:pt x="0" y="525707"/>
                    <a:pt x="0" y="508871"/>
                  </a:cubicBezTo>
                  <a:lnTo>
                    <a:pt x="0" y="30483"/>
                  </a:lnTo>
                  <a:cubicBezTo>
                    <a:pt x="0" y="22398"/>
                    <a:pt x="3212" y="14645"/>
                    <a:pt x="8928" y="8928"/>
                  </a:cubicBezTo>
                  <a:cubicBezTo>
                    <a:pt x="14645" y="3212"/>
                    <a:pt x="22398" y="0"/>
                    <a:pt x="30483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A48C7E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2479047" cy="5869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0143463" y="2748775"/>
            <a:ext cx="6788641" cy="1403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600"/>
              </a:lnSpc>
            </a:pPr>
            <a:r>
              <a:rPr lang="en-US" sz="4000">
                <a:solidFill>
                  <a:srgbClr val="7B5344"/>
                </a:solidFill>
                <a:latin typeface="เอฟซี ฟรายเดย์"/>
                <a:ea typeface="เอฟซี ฟรายเดย์"/>
                <a:cs typeface="เอฟซี ฟรายเดย์"/>
                <a:sym typeface="เอฟซี ฟรายเดย์"/>
              </a:rPr>
              <a:t>Sifat koleksi lagu</a:t>
            </a:r>
          </a:p>
          <a:p>
            <a:pPr algn="just" marL="863601" indent="-431801" lvl="1">
              <a:lnSpc>
                <a:spcPts val="5600"/>
              </a:lnSpc>
              <a:buFont typeface="Arial"/>
              <a:buChar char="•"/>
            </a:pPr>
            <a:r>
              <a:rPr lang="en-US" sz="4000">
                <a:solidFill>
                  <a:srgbClr val="7B5344"/>
                </a:solidFill>
                <a:latin typeface="เอฟซี ฟรายเดย์"/>
                <a:ea typeface="เอฟซี ฟรายเดย์"/>
                <a:cs typeface="เอฟซี ฟรายเดย์"/>
                <a:sym typeface="เอฟซี ฟรายเดย์"/>
              </a:rPr>
              <a:t>genre yang beragam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3090472" y="1953735"/>
            <a:ext cx="972405" cy="972405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48C7E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012690" y="1859587"/>
            <a:ext cx="972405" cy="972405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8DDCD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2769703" y="1466076"/>
            <a:ext cx="1421860" cy="136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FFFFFF"/>
                </a:solidFill>
                <a:latin typeface="เอฟซี แคนดี้"/>
                <a:ea typeface="เอฟซี แคนดี้"/>
                <a:cs typeface="เอฟซี แคนดี้"/>
                <a:sym typeface="เอฟซี แคนดี้"/>
              </a:rPr>
              <a:t>2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584241" y="5569230"/>
            <a:ext cx="7365251" cy="2343925"/>
            <a:chOff x="0" y="0"/>
            <a:chExt cx="2479047" cy="78893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479048" cy="788935"/>
            </a:xfrm>
            <a:custGeom>
              <a:avLst/>
              <a:gdLst/>
              <a:ahLst/>
              <a:cxnLst/>
              <a:rect r="r" b="b" t="t" l="l"/>
              <a:pathLst>
                <a:path h="788935" w="2479048">
                  <a:moveTo>
                    <a:pt x="30483" y="0"/>
                  </a:moveTo>
                  <a:lnTo>
                    <a:pt x="2448564" y="0"/>
                  </a:lnTo>
                  <a:cubicBezTo>
                    <a:pt x="2456649" y="0"/>
                    <a:pt x="2464402" y="3212"/>
                    <a:pt x="2470119" y="8928"/>
                  </a:cubicBezTo>
                  <a:cubicBezTo>
                    <a:pt x="2475836" y="14645"/>
                    <a:pt x="2479048" y="22398"/>
                    <a:pt x="2479048" y="30483"/>
                  </a:cubicBezTo>
                  <a:lnTo>
                    <a:pt x="2479048" y="758452"/>
                  </a:lnTo>
                  <a:cubicBezTo>
                    <a:pt x="2479048" y="766536"/>
                    <a:pt x="2475836" y="774290"/>
                    <a:pt x="2470119" y="780006"/>
                  </a:cubicBezTo>
                  <a:cubicBezTo>
                    <a:pt x="2464402" y="785723"/>
                    <a:pt x="2456649" y="788935"/>
                    <a:pt x="2448564" y="788935"/>
                  </a:cubicBezTo>
                  <a:lnTo>
                    <a:pt x="30483" y="788935"/>
                  </a:lnTo>
                  <a:cubicBezTo>
                    <a:pt x="22398" y="788935"/>
                    <a:pt x="14645" y="785723"/>
                    <a:pt x="8928" y="780006"/>
                  </a:cubicBezTo>
                  <a:cubicBezTo>
                    <a:pt x="3212" y="774290"/>
                    <a:pt x="0" y="766536"/>
                    <a:pt x="0" y="758452"/>
                  </a:cubicBezTo>
                  <a:lnTo>
                    <a:pt x="0" y="30483"/>
                  </a:lnTo>
                  <a:cubicBezTo>
                    <a:pt x="0" y="22398"/>
                    <a:pt x="3212" y="14645"/>
                    <a:pt x="8928" y="8928"/>
                  </a:cubicBezTo>
                  <a:cubicBezTo>
                    <a:pt x="14645" y="3212"/>
                    <a:pt x="22398" y="0"/>
                    <a:pt x="30483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A48C7E"/>
              </a:solidFill>
              <a:prstDash val="solid"/>
              <a:round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2479047" cy="8365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805169" y="5502555"/>
            <a:ext cx="6788641" cy="210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600"/>
              </a:lnSpc>
            </a:pPr>
            <a:r>
              <a:rPr lang="en-US" sz="4000">
                <a:solidFill>
                  <a:srgbClr val="7B5344"/>
                </a:solidFill>
                <a:latin typeface="เอฟซี ฟรายเดย์"/>
                <a:ea typeface="เอฟซี ฟรายเดย์"/>
                <a:cs typeface="เอฟซี ฟรายเดย์"/>
                <a:sym typeface="เอฟซี ฟรายเดย์"/>
              </a:rPr>
              <a:t>Keterbatasan platform</a:t>
            </a:r>
          </a:p>
          <a:p>
            <a:pPr algn="just" marL="863601" indent="-431801" lvl="1">
              <a:lnSpc>
                <a:spcPts val="5600"/>
              </a:lnSpc>
              <a:buFont typeface="Arial"/>
              <a:buChar char="•"/>
            </a:pPr>
            <a:r>
              <a:rPr lang="en-US" sz="4000">
                <a:solidFill>
                  <a:srgbClr val="7B5344"/>
                </a:solidFill>
                <a:latin typeface="เอฟซี ฟรายเดย์"/>
                <a:ea typeface="เอฟซี ฟรายเดย์"/>
                <a:cs typeface="เอฟซี ฟรายเดย์"/>
                <a:sym typeface="เอฟซี ฟรายเดย์"/>
              </a:rPr>
              <a:t>shuffle mode</a:t>
            </a:r>
          </a:p>
          <a:p>
            <a:pPr algn="just" marL="863601" indent="-431801" lvl="1">
              <a:lnSpc>
                <a:spcPts val="5600"/>
              </a:lnSpc>
              <a:buFont typeface="Arial"/>
              <a:buChar char="•"/>
            </a:pPr>
            <a:r>
              <a:rPr lang="en-US" sz="4000">
                <a:solidFill>
                  <a:srgbClr val="7B5344"/>
                </a:solidFill>
                <a:latin typeface="เอฟซี ฟรายเดย์"/>
                <a:ea typeface="เอฟซี ฟรายเดย์"/>
                <a:cs typeface="เอฟซี ฟรายเดย์"/>
                <a:sym typeface="เอฟซี ฟรายเดย์"/>
              </a:rPr>
              <a:t>urutan tidak kontekstual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4752178" y="4707515"/>
            <a:ext cx="972405" cy="972405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48C7E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4674396" y="4613367"/>
            <a:ext cx="972405" cy="972405"/>
            <a:chOff x="0" y="0"/>
            <a:chExt cx="812800" cy="812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8DDCD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4431410" y="4219856"/>
            <a:ext cx="1421860" cy="136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FFFFFF"/>
                </a:solidFill>
                <a:latin typeface="เอฟซี แคนดี้"/>
                <a:ea typeface="เอฟซี แคนดี้"/>
                <a:cs typeface="เอฟซี แคนดี้"/>
                <a:sym typeface="เอฟซี แคนดี้"/>
              </a:rPr>
              <a:t>3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9816267" y="5403638"/>
            <a:ext cx="7365251" cy="2343925"/>
            <a:chOff x="0" y="0"/>
            <a:chExt cx="2479047" cy="78893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479048" cy="788935"/>
            </a:xfrm>
            <a:custGeom>
              <a:avLst/>
              <a:gdLst/>
              <a:ahLst/>
              <a:cxnLst/>
              <a:rect r="r" b="b" t="t" l="l"/>
              <a:pathLst>
                <a:path h="788935" w="2479048">
                  <a:moveTo>
                    <a:pt x="30483" y="0"/>
                  </a:moveTo>
                  <a:lnTo>
                    <a:pt x="2448564" y="0"/>
                  </a:lnTo>
                  <a:cubicBezTo>
                    <a:pt x="2456649" y="0"/>
                    <a:pt x="2464402" y="3212"/>
                    <a:pt x="2470119" y="8928"/>
                  </a:cubicBezTo>
                  <a:cubicBezTo>
                    <a:pt x="2475836" y="14645"/>
                    <a:pt x="2479048" y="22398"/>
                    <a:pt x="2479048" y="30483"/>
                  </a:cubicBezTo>
                  <a:lnTo>
                    <a:pt x="2479048" y="758452"/>
                  </a:lnTo>
                  <a:cubicBezTo>
                    <a:pt x="2479048" y="766536"/>
                    <a:pt x="2475836" y="774290"/>
                    <a:pt x="2470119" y="780006"/>
                  </a:cubicBezTo>
                  <a:cubicBezTo>
                    <a:pt x="2464402" y="785723"/>
                    <a:pt x="2456649" y="788935"/>
                    <a:pt x="2448564" y="788935"/>
                  </a:cubicBezTo>
                  <a:lnTo>
                    <a:pt x="30483" y="788935"/>
                  </a:lnTo>
                  <a:cubicBezTo>
                    <a:pt x="22398" y="788935"/>
                    <a:pt x="14645" y="785723"/>
                    <a:pt x="8928" y="780006"/>
                  </a:cubicBezTo>
                  <a:cubicBezTo>
                    <a:pt x="3212" y="774290"/>
                    <a:pt x="0" y="766536"/>
                    <a:pt x="0" y="758452"/>
                  </a:cubicBezTo>
                  <a:lnTo>
                    <a:pt x="0" y="30483"/>
                  </a:lnTo>
                  <a:cubicBezTo>
                    <a:pt x="0" y="22398"/>
                    <a:pt x="3212" y="14645"/>
                    <a:pt x="8928" y="8928"/>
                  </a:cubicBezTo>
                  <a:cubicBezTo>
                    <a:pt x="14645" y="3212"/>
                    <a:pt x="22398" y="0"/>
                    <a:pt x="30483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A48C7E"/>
              </a:solidFill>
              <a:prstDash val="solid"/>
              <a:round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2479047" cy="8365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0065682" y="5336963"/>
            <a:ext cx="6788641" cy="210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600"/>
              </a:lnSpc>
            </a:pPr>
            <a:r>
              <a:rPr lang="en-US" sz="4000">
                <a:solidFill>
                  <a:srgbClr val="7B5344"/>
                </a:solidFill>
                <a:latin typeface="เอฟซี ฟรายเดย์"/>
                <a:ea typeface="เอฟซี ฟรายเดย์"/>
                <a:cs typeface="เอฟซี ฟรายเดย์"/>
                <a:sym typeface="เอฟซี ฟรายเดย์"/>
              </a:rPr>
              <a:t>Algoritma internal</a:t>
            </a:r>
          </a:p>
          <a:p>
            <a:pPr algn="just" marL="863601" indent="-431801" lvl="1">
              <a:lnSpc>
                <a:spcPts val="5600"/>
              </a:lnSpc>
              <a:buFont typeface="Arial"/>
              <a:buChar char="•"/>
            </a:pPr>
            <a:r>
              <a:rPr lang="en-US" sz="4000">
                <a:solidFill>
                  <a:srgbClr val="7B5344"/>
                </a:solidFill>
                <a:latin typeface="เอฟซี ฟรายเดย์"/>
                <a:ea typeface="เอฟซี ฟรายเดย์"/>
                <a:cs typeface="เอฟซี ฟรายเดย์"/>
                <a:sym typeface="เอฟซี ฟรายเดย์"/>
              </a:rPr>
              <a:t>fokus discovery</a:t>
            </a:r>
          </a:p>
          <a:p>
            <a:pPr algn="just" marL="863601" indent="-431801" lvl="1">
              <a:lnSpc>
                <a:spcPts val="5600"/>
              </a:lnSpc>
              <a:buFont typeface="Arial"/>
              <a:buChar char="•"/>
            </a:pPr>
            <a:r>
              <a:rPr lang="en-US" sz="4000">
                <a:solidFill>
                  <a:srgbClr val="7B5344"/>
                </a:solidFill>
                <a:latin typeface="เอฟซี ฟรายเดย์"/>
                <a:ea typeface="เอฟซี ฟรายเดย์"/>
                <a:cs typeface="เอฟซี ฟรายเดย์"/>
                <a:sym typeface="เอฟซี ฟรายเดย์"/>
              </a:rPr>
              <a:t>metrik kemiripan sederhana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14855444" y="5297291"/>
            <a:ext cx="972405" cy="972405"/>
            <a:chOff x="0" y="0"/>
            <a:chExt cx="812800" cy="8128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48C7E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4777662" y="5203143"/>
            <a:ext cx="972405" cy="972405"/>
            <a:chOff x="0" y="0"/>
            <a:chExt cx="812800" cy="8128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8DDCD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14534675" y="4809632"/>
            <a:ext cx="1421860" cy="136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FFFFFF"/>
                </a:solidFill>
                <a:latin typeface="เอฟซี แคนดี้"/>
                <a:ea typeface="เอฟซี แคนดี้"/>
                <a:cs typeface="เอฟซี แคนดี้"/>
                <a:sym typeface="เอฟซี แคนดี้"/>
              </a:rPr>
              <a:t>4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2633325" y="8160806"/>
            <a:ext cx="13031801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7B5344"/>
                </a:solidFill>
                <a:latin typeface="เอฟซี ฟรายเดย์"/>
                <a:ea typeface="เอฟซี ฟรายเดย์"/>
                <a:cs typeface="เอฟซี ฟรายเดย์"/>
                <a:sym typeface="เอฟซี ฟรายเดย์"/>
              </a:rPr>
              <a:t>FOL akan solve bagaimana menentukan apakah transisi antar lagu dalam sebuah playlist bersifat harmonis atau kasar secara objektif dan konsisten, tanpa bergantung pada penilaian subjektif pengguna atau algoritma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3226609" y="-3942496"/>
            <a:ext cx="12651298" cy="19274831"/>
          </a:xfrm>
          <a:custGeom>
            <a:avLst/>
            <a:gdLst/>
            <a:ahLst/>
            <a:cxnLst/>
            <a:rect r="r" b="b" t="t" l="l"/>
            <a:pathLst>
              <a:path h="19274831" w="12651298">
                <a:moveTo>
                  <a:pt x="0" y="0"/>
                </a:moveTo>
                <a:lnTo>
                  <a:pt x="12651298" y="0"/>
                </a:lnTo>
                <a:lnTo>
                  <a:pt x="12651298" y="19274831"/>
                </a:lnTo>
                <a:lnTo>
                  <a:pt x="0" y="192748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19044" y="703288"/>
            <a:ext cx="11649912" cy="1635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00"/>
              </a:lnSpc>
            </a:pPr>
            <a:r>
              <a:rPr lang="en-US" sz="9500">
                <a:solidFill>
                  <a:srgbClr val="FAF8F4"/>
                </a:solidFill>
                <a:latin typeface="เอฟซี แคนดี้"/>
                <a:ea typeface="เอฟซี แคนดี้"/>
                <a:cs typeface="เอฟซี แคนดี้"/>
                <a:sym typeface="เอฟซี แคนดี้"/>
              </a:rPr>
              <a:t>Solution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2318935">
            <a:off x="-93280" y="162820"/>
            <a:ext cx="1632129" cy="2301720"/>
          </a:xfrm>
          <a:custGeom>
            <a:avLst/>
            <a:gdLst/>
            <a:ahLst/>
            <a:cxnLst/>
            <a:rect r="r" b="b" t="t" l="l"/>
            <a:pathLst>
              <a:path h="2301720" w="1632129">
                <a:moveTo>
                  <a:pt x="0" y="0"/>
                </a:moveTo>
                <a:lnTo>
                  <a:pt x="1632129" y="0"/>
                </a:lnTo>
                <a:lnTo>
                  <a:pt x="1632129" y="2301720"/>
                </a:lnTo>
                <a:lnTo>
                  <a:pt x="0" y="23017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-2318935">
            <a:off x="-52794" y="245062"/>
            <a:ext cx="1537093" cy="2167695"/>
          </a:xfrm>
          <a:custGeom>
            <a:avLst/>
            <a:gdLst/>
            <a:ahLst/>
            <a:cxnLst/>
            <a:rect r="r" b="b" t="t" l="l"/>
            <a:pathLst>
              <a:path h="2167695" w="1537093">
                <a:moveTo>
                  <a:pt x="0" y="0"/>
                </a:moveTo>
                <a:lnTo>
                  <a:pt x="1537093" y="0"/>
                </a:lnTo>
                <a:lnTo>
                  <a:pt x="1537093" y="2167695"/>
                </a:lnTo>
                <a:lnTo>
                  <a:pt x="0" y="21676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385659">
            <a:off x="-517286" y="8123373"/>
            <a:ext cx="3506797" cy="2269854"/>
          </a:xfrm>
          <a:custGeom>
            <a:avLst/>
            <a:gdLst/>
            <a:ahLst/>
            <a:cxnLst/>
            <a:rect r="r" b="b" t="t" l="l"/>
            <a:pathLst>
              <a:path h="2269854" w="3506797">
                <a:moveTo>
                  <a:pt x="0" y="0"/>
                </a:moveTo>
                <a:lnTo>
                  <a:pt x="3506798" y="0"/>
                </a:lnTo>
                <a:lnTo>
                  <a:pt x="3506798" y="2269854"/>
                </a:lnTo>
                <a:lnTo>
                  <a:pt x="0" y="22698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1853369" y="3185201"/>
            <a:ext cx="14375303" cy="2824850"/>
            <a:chOff x="0" y="0"/>
            <a:chExt cx="3931341" cy="7725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931341" cy="772537"/>
            </a:xfrm>
            <a:custGeom>
              <a:avLst/>
              <a:gdLst/>
              <a:ahLst/>
              <a:cxnLst/>
              <a:rect r="r" b="b" t="t" l="l"/>
              <a:pathLst>
                <a:path h="772537" w="3931341">
                  <a:moveTo>
                    <a:pt x="15618" y="0"/>
                  </a:moveTo>
                  <a:lnTo>
                    <a:pt x="3915723" y="0"/>
                  </a:lnTo>
                  <a:cubicBezTo>
                    <a:pt x="3924348" y="0"/>
                    <a:pt x="3931341" y="6992"/>
                    <a:pt x="3931341" y="15618"/>
                  </a:cubicBezTo>
                  <a:lnTo>
                    <a:pt x="3931341" y="756919"/>
                  </a:lnTo>
                  <a:cubicBezTo>
                    <a:pt x="3931341" y="761061"/>
                    <a:pt x="3929695" y="765033"/>
                    <a:pt x="3926767" y="767962"/>
                  </a:cubicBezTo>
                  <a:cubicBezTo>
                    <a:pt x="3923838" y="770891"/>
                    <a:pt x="3919865" y="772537"/>
                    <a:pt x="3915723" y="772537"/>
                  </a:cubicBezTo>
                  <a:lnTo>
                    <a:pt x="15618" y="772537"/>
                  </a:lnTo>
                  <a:cubicBezTo>
                    <a:pt x="6992" y="772537"/>
                    <a:pt x="0" y="765544"/>
                    <a:pt x="0" y="756919"/>
                  </a:cubicBezTo>
                  <a:lnTo>
                    <a:pt x="0" y="15618"/>
                  </a:lnTo>
                  <a:cubicBezTo>
                    <a:pt x="0" y="6992"/>
                    <a:pt x="6992" y="0"/>
                    <a:pt x="15618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A48C7E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3931341" cy="8201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223252" y="3393162"/>
            <a:ext cx="13841496" cy="196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99"/>
              </a:lnSpc>
            </a:pPr>
            <a:r>
              <a:rPr lang="en-US" sz="3999">
                <a:solidFill>
                  <a:srgbClr val="7B5344"/>
                </a:solidFill>
                <a:latin typeface="เอฟซี ฟรายเดย์"/>
                <a:ea typeface="เอฟซี ฟรายเดย์"/>
                <a:cs typeface="เอฟซี ฟรายเดย์"/>
                <a:sym typeface="เอฟซี ฟรายเดย์"/>
              </a:rPr>
              <a:t>Memformalkan aturan transisi lagu dengan First Order Logic menggunakan prolog sebagai inferensi dan mengubah penilaian subjektif sehingga membuat keputusan logis berbasis rule.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853369" y="6649040"/>
            <a:ext cx="14375303" cy="2824850"/>
            <a:chOff x="0" y="0"/>
            <a:chExt cx="3931341" cy="77253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931341" cy="772537"/>
            </a:xfrm>
            <a:custGeom>
              <a:avLst/>
              <a:gdLst/>
              <a:ahLst/>
              <a:cxnLst/>
              <a:rect r="r" b="b" t="t" l="l"/>
              <a:pathLst>
                <a:path h="772537" w="3931341">
                  <a:moveTo>
                    <a:pt x="15618" y="0"/>
                  </a:moveTo>
                  <a:lnTo>
                    <a:pt x="3915723" y="0"/>
                  </a:lnTo>
                  <a:cubicBezTo>
                    <a:pt x="3924348" y="0"/>
                    <a:pt x="3931341" y="6992"/>
                    <a:pt x="3931341" y="15618"/>
                  </a:cubicBezTo>
                  <a:lnTo>
                    <a:pt x="3931341" y="756919"/>
                  </a:lnTo>
                  <a:cubicBezTo>
                    <a:pt x="3931341" y="761061"/>
                    <a:pt x="3929695" y="765033"/>
                    <a:pt x="3926767" y="767962"/>
                  </a:cubicBezTo>
                  <a:cubicBezTo>
                    <a:pt x="3923838" y="770891"/>
                    <a:pt x="3919865" y="772537"/>
                    <a:pt x="3915723" y="772537"/>
                  </a:cubicBezTo>
                  <a:lnTo>
                    <a:pt x="15618" y="772537"/>
                  </a:lnTo>
                  <a:cubicBezTo>
                    <a:pt x="6992" y="772537"/>
                    <a:pt x="0" y="765544"/>
                    <a:pt x="0" y="756919"/>
                  </a:cubicBezTo>
                  <a:lnTo>
                    <a:pt x="0" y="15618"/>
                  </a:lnTo>
                  <a:cubicBezTo>
                    <a:pt x="0" y="6992"/>
                    <a:pt x="6992" y="0"/>
                    <a:pt x="15618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A48C7E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3931341" cy="8201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223252" y="6785212"/>
            <a:ext cx="13841496" cy="1311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99"/>
              </a:lnSpc>
            </a:pPr>
            <a:r>
              <a:rPr lang="en-US" sz="3999">
                <a:solidFill>
                  <a:srgbClr val="7B5344"/>
                </a:solidFill>
                <a:latin typeface="เอฟซี ฟรายเดย์"/>
                <a:ea typeface="เอฟซี ฟรายเดย์"/>
                <a:cs typeface="เอฟซี ฟรายเดย์"/>
                <a:sym typeface="เอฟซี ฟรายเดย์"/>
              </a:rPr>
              <a:t>Hasil yang diharapkan adalah aplikasi dapat mendeteksi lagu ekstrem dan kasar sehingga tercipta rekomendasi urutan playlist yang optimal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385659">
            <a:off x="-348778" y="8232443"/>
            <a:ext cx="3169782" cy="2051713"/>
          </a:xfrm>
          <a:custGeom>
            <a:avLst/>
            <a:gdLst/>
            <a:ahLst/>
            <a:cxnLst/>
            <a:rect r="r" b="b" t="t" l="l"/>
            <a:pathLst>
              <a:path h="2051713" w="3169782">
                <a:moveTo>
                  <a:pt x="0" y="0"/>
                </a:moveTo>
                <a:lnTo>
                  <a:pt x="3169782" y="0"/>
                </a:lnTo>
                <a:lnTo>
                  <a:pt x="3169782" y="2051714"/>
                </a:lnTo>
                <a:lnTo>
                  <a:pt x="0" y="20517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6" id="16"/>
          <p:cNvGrpSpPr/>
          <p:nvPr/>
        </p:nvGrpSpPr>
        <p:grpSpPr>
          <a:xfrm rot="0">
            <a:off x="958745" y="3520460"/>
            <a:ext cx="972405" cy="972405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48C7E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80963" y="3426312"/>
            <a:ext cx="972405" cy="972405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8DDCD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637977" y="3032801"/>
            <a:ext cx="1421860" cy="136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FFFFFF"/>
                </a:solidFill>
                <a:latin typeface="เอฟซี แคนดี้"/>
                <a:ea typeface="เอฟซี แคนดี้"/>
                <a:cs typeface="เอฟซี แคนดี้"/>
                <a:sym typeface="เอฟซี แคนดี้"/>
              </a:rPr>
              <a:t>1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6409276" y="6560084"/>
            <a:ext cx="972405" cy="972405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48C7E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6331495" y="6465936"/>
            <a:ext cx="972405" cy="972405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8DDCD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6088508" y="6072425"/>
            <a:ext cx="1421860" cy="136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FFFFFF"/>
                </a:solidFill>
                <a:latin typeface="เอฟซี แคนดี้"/>
                <a:ea typeface="เอฟซี แคนดี้"/>
                <a:cs typeface="เอฟซี แคนดี้"/>
                <a:sym typeface="เอฟซี แคนดี้"/>
              </a:rPr>
              <a:t>2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6127400" y="7934216"/>
            <a:ext cx="2375102" cy="2715383"/>
            <a:chOff x="0" y="0"/>
            <a:chExt cx="3166803" cy="362051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166803" cy="3620510"/>
            </a:xfrm>
            <a:custGeom>
              <a:avLst/>
              <a:gdLst/>
              <a:ahLst/>
              <a:cxnLst/>
              <a:rect r="r" b="b" t="t" l="l"/>
              <a:pathLst>
                <a:path h="3620510" w="3166803">
                  <a:moveTo>
                    <a:pt x="0" y="0"/>
                  </a:moveTo>
                  <a:lnTo>
                    <a:pt x="3166803" y="0"/>
                  </a:lnTo>
                  <a:lnTo>
                    <a:pt x="3166803" y="3620510"/>
                  </a:lnTo>
                  <a:lnTo>
                    <a:pt x="0" y="36205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91261" y="104336"/>
              <a:ext cx="2984281" cy="3411838"/>
            </a:xfrm>
            <a:custGeom>
              <a:avLst/>
              <a:gdLst/>
              <a:ahLst/>
              <a:cxnLst/>
              <a:rect r="r" b="b" t="t" l="l"/>
              <a:pathLst>
                <a:path h="3411838" w="2984281">
                  <a:moveTo>
                    <a:pt x="0" y="0"/>
                  </a:moveTo>
                  <a:lnTo>
                    <a:pt x="2984281" y="0"/>
                  </a:lnTo>
                  <a:lnTo>
                    <a:pt x="2984281" y="3411838"/>
                  </a:lnTo>
                  <a:lnTo>
                    <a:pt x="0" y="34118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3600634" y="-3824634"/>
            <a:ext cx="12558249" cy="19133067"/>
          </a:xfrm>
          <a:custGeom>
            <a:avLst/>
            <a:gdLst/>
            <a:ahLst/>
            <a:cxnLst/>
            <a:rect r="r" b="b" t="t" l="l"/>
            <a:pathLst>
              <a:path h="19133067" w="12558249">
                <a:moveTo>
                  <a:pt x="0" y="0"/>
                </a:moveTo>
                <a:lnTo>
                  <a:pt x="12558249" y="0"/>
                </a:lnTo>
                <a:lnTo>
                  <a:pt x="12558249" y="19133067"/>
                </a:lnTo>
                <a:lnTo>
                  <a:pt x="0" y="191330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318935">
            <a:off x="-93280" y="162820"/>
            <a:ext cx="1632129" cy="2301720"/>
          </a:xfrm>
          <a:custGeom>
            <a:avLst/>
            <a:gdLst/>
            <a:ahLst/>
            <a:cxnLst/>
            <a:rect r="r" b="b" t="t" l="l"/>
            <a:pathLst>
              <a:path h="2301720" w="1632129">
                <a:moveTo>
                  <a:pt x="0" y="0"/>
                </a:moveTo>
                <a:lnTo>
                  <a:pt x="1632129" y="0"/>
                </a:lnTo>
                <a:lnTo>
                  <a:pt x="1632129" y="2301720"/>
                </a:lnTo>
                <a:lnTo>
                  <a:pt x="0" y="23017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2318935">
            <a:off x="-52794" y="245062"/>
            <a:ext cx="1537093" cy="2167695"/>
          </a:xfrm>
          <a:custGeom>
            <a:avLst/>
            <a:gdLst/>
            <a:ahLst/>
            <a:cxnLst/>
            <a:rect r="r" b="b" t="t" l="l"/>
            <a:pathLst>
              <a:path h="2167695" w="1537093">
                <a:moveTo>
                  <a:pt x="0" y="0"/>
                </a:moveTo>
                <a:lnTo>
                  <a:pt x="1537093" y="0"/>
                </a:lnTo>
                <a:lnTo>
                  <a:pt x="1537093" y="2167695"/>
                </a:lnTo>
                <a:lnTo>
                  <a:pt x="0" y="21676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385659">
            <a:off x="-517286" y="8123373"/>
            <a:ext cx="3506797" cy="2269854"/>
          </a:xfrm>
          <a:custGeom>
            <a:avLst/>
            <a:gdLst/>
            <a:ahLst/>
            <a:cxnLst/>
            <a:rect r="r" b="b" t="t" l="l"/>
            <a:pathLst>
              <a:path h="2269854" w="3506797">
                <a:moveTo>
                  <a:pt x="0" y="0"/>
                </a:moveTo>
                <a:lnTo>
                  <a:pt x="3506798" y="0"/>
                </a:lnTo>
                <a:lnTo>
                  <a:pt x="3506798" y="2269854"/>
                </a:lnTo>
                <a:lnTo>
                  <a:pt x="0" y="22698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385659">
            <a:off x="-348778" y="8232443"/>
            <a:ext cx="3169782" cy="2051713"/>
          </a:xfrm>
          <a:custGeom>
            <a:avLst/>
            <a:gdLst/>
            <a:ahLst/>
            <a:cxnLst/>
            <a:rect r="r" b="b" t="t" l="l"/>
            <a:pathLst>
              <a:path h="2051713" w="3169782">
                <a:moveTo>
                  <a:pt x="0" y="0"/>
                </a:moveTo>
                <a:lnTo>
                  <a:pt x="3169782" y="0"/>
                </a:lnTo>
                <a:lnTo>
                  <a:pt x="3169782" y="2051714"/>
                </a:lnTo>
                <a:lnTo>
                  <a:pt x="0" y="20517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16127400" y="7934216"/>
            <a:ext cx="2375102" cy="2715383"/>
            <a:chOff x="0" y="0"/>
            <a:chExt cx="3166803" cy="362051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166803" cy="3620510"/>
            </a:xfrm>
            <a:custGeom>
              <a:avLst/>
              <a:gdLst/>
              <a:ahLst/>
              <a:cxnLst/>
              <a:rect r="r" b="b" t="t" l="l"/>
              <a:pathLst>
                <a:path h="3620510" w="3166803">
                  <a:moveTo>
                    <a:pt x="0" y="0"/>
                  </a:moveTo>
                  <a:lnTo>
                    <a:pt x="3166803" y="0"/>
                  </a:lnTo>
                  <a:lnTo>
                    <a:pt x="3166803" y="3620510"/>
                  </a:lnTo>
                  <a:lnTo>
                    <a:pt x="0" y="36205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91261" y="104336"/>
              <a:ext cx="2984281" cy="3411838"/>
            </a:xfrm>
            <a:custGeom>
              <a:avLst/>
              <a:gdLst/>
              <a:ahLst/>
              <a:cxnLst/>
              <a:rect r="r" b="b" t="t" l="l"/>
              <a:pathLst>
                <a:path h="3411838" w="2984281">
                  <a:moveTo>
                    <a:pt x="0" y="0"/>
                  </a:moveTo>
                  <a:lnTo>
                    <a:pt x="2984281" y="0"/>
                  </a:lnTo>
                  <a:lnTo>
                    <a:pt x="2984281" y="3411838"/>
                  </a:lnTo>
                  <a:lnTo>
                    <a:pt x="0" y="34118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582295" y="6548675"/>
            <a:ext cx="5376282" cy="3504792"/>
          </a:xfrm>
          <a:custGeom>
            <a:avLst/>
            <a:gdLst/>
            <a:ahLst/>
            <a:cxnLst/>
            <a:rect r="r" b="b" t="t" l="l"/>
            <a:pathLst>
              <a:path h="3504792" w="5376282">
                <a:moveTo>
                  <a:pt x="0" y="0"/>
                </a:moveTo>
                <a:lnTo>
                  <a:pt x="5376283" y="0"/>
                </a:lnTo>
                <a:lnTo>
                  <a:pt x="5376283" y="3504791"/>
                </a:lnTo>
                <a:lnTo>
                  <a:pt x="0" y="350479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319044" y="115888"/>
            <a:ext cx="11649912" cy="1635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00"/>
              </a:lnSpc>
            </a:pPr>
            <a:r>
              <a:rPr lang="en-US" sz="9500">
                <a:solidFill>
                  <a:srgbClr val="FAF8F4"/>
                </a:solidFill>
                <a:latin typeface="เอฟซี แคนดี้"/>
                <a:ea typeface="เอฟซี แคนดี้"/>
                <a:cs typeface="เอฟซี แคนดี้"/>
                <a:sym typeface="เอฟซี แคนดี้"/>
              </a:rPr>
              <a:t>Predicate and Rules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82295" y="2007339"/>
            <a:ext cx="5119029" cy="4217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23"/>
              </a:lnSpc>
            </a:pPr>
            <a:r>
              <a:rPr lang="en-US" sz="2659">
                <a:solidFill>
                  <a:srgbClr val="7B5344"/>
                </a:solidFill>
                <a:latin typeface="เอฟซี ฟรายเดย์"/>
                <a:ea typeface="เอฟซี ฟรายเดย์"/>
                <a:cs typeface="เอฟซี ฟรายเดย์"/>
                <a:sym typeface="เอฟซี ฟรายเดย์"/>
              </a:rPr>
              <a:t>1. memiliki_atribut(&lt;lagu&gt;, &lt;genre&gt;, &lt;tingkat energi&gt;, &lt;kecepatan tempo&gt;) </a:t>
            </a:r>
          </a:p>
          <a:p>
            <a:pPr algn="just">
              <a:lnSpc>
                <a:spcPts val="3723"/>
              </a:lnSpc>
            </a:pPr>
            <a:r>
              <a:rPr lang="en-US" sz="2659">
                <a:solidFill>
                  <a:srgbClr val="7B5344"/>
                </a:solidFill>
                <a:latin typeface="เอฟซี ฟรายเดย์"/>
                <a:ea typeface="เอฟซี ฟรายเดย์"/>
                <a:cs typeface="เอฟซี ฟรายเดย์"/>
                <a:sym typeface="เอฟซี ฟรายเดย์"/>
              </a:rPr>
              <a:t>2. jarak_graf(&lt;lagu1&gt;, &lt;lagu2&gt;, &lt;nilai&gt;) </a:t>
            </a:r>
          </a:p>
          <a:p>
            <a:pPr algn="just">
              <a:lnSpc>
                <a:spcPts val="3723"/>
              </a:lnSpc>
            </a:pPr>
            <a:r>
              <a:rPr lang="en-US" sz="2659">
                <a:solidFill>
                  <a:srgbClr val="7B5344"/>
                </a:solidFill>
                <a:latin typeface="เอฟซี ฟรายเดย์"/>
                <a:ea typeface="เอฟซี ฟรายเดย์"/>
                <a:cs typeface="เอฟซี ฟรายเดย์"/>
                <a:sym typeface="เอฟซี ฟรายเดย์"/>
              </a:rPr>
              <a:t>3. beda_genre(&lt;lagu1&gt;, &lt;lagu2&gt;) </a:t>
            </a:r>
          </a:p>
          <a:p>
            <a:pPr algn="just">
              <a:lnSpc>
                <a:spcPts val="3723"/>
              </a:lnSpc>
            </a:pPr>
            <a:r>
              <a:rPr lang="en-US" sz="2659">
                <a:solidFill>
                  <a:srgbClr val="7B5344"/>
                </a:solidFill>
                <a:latin typeface="เอฟซี ฟรายเดย์"/>
                <a:ea typeface="เอฟซี ฟรายเดย์"/>
                <a:cs typeface="เอฟซี ฟรายเดย์"/>
                <a:sym typeface="เอฟซี ฟรายเดย์"/>
              </a:rPr>
              <a:t>4. energi_kontras(&lt;lagu1&gt;, &lt;lagu2&gt;) </a:t>
            </a:r>
          </a:p>
          <a:p>
            <a:pPr algn="just">
              <a:lnSpc>
                <a:spcPts val="3723"/>
              </a:lnSpc>
            </a:pPr>
            <a:r>
              <a:rPr lang="en-US" sz="2659">
                <a:solidFill>
                  <a:srgbClr val="7B5344"/>
                </a:solidFill>
                <a:latin typeface="เอฟซี ฟรายเดย์"/>
                <a:ea typeface="เอฟซี ฟรายเดย์"/>
                <a:cs typeface="เอฟซี ฟรายเดย์"/>
                <a:sym typeface="เอฟซี ฟรายเดย์"/>
              </a:rPr>
              <a:t>5. transisi_kasar(&lt;lagu1&gt;, &lt;lagu2&gt;) </a:t>
            </a:r>
          </a:p>
          <a:p>
            <a:pPr algn="just">
              <a:lnSpc>
                <a:spcPts val="3723"/>
              </a:lnSpc>
            </a:pPr>
            <a:r>
              <a:rPr lang="en-US" sz="2659">
                <a:solidFill>
                  <a:srgbClr val="7B5344"/>
                </a:solidFill>
                <a:latin typeface="เอฟซี ฟรายเดย์"/>
                <a:ea typeface="เอฟซี ฟรายเดย์"/>
                <a:cs typeface="เอฟซี ฟรายเดย์"/>
                <a:sym typeface="เอฟซี ฟรายเดย์"/>
              </a:rPr>
              <a:t>6. transisi_harmonis(&lt;lagu1&gt;, &lt;lagu2&gt;) </a:t>
            </a:r>
          </a:p>
          <a:p>
            <a:pPr algn="just">
              <a:lnSpc>
                <a:spcPts val="3723"/>
              </a:lnSpc>
            </a:pPr>
            <a:r>
              <a:rPr lang="en-US" sz="2659">
                <a:solidFill>
                  <a:srgbClr val="7B5344"/>
                </a:solidFill>
                <a:latin typeface="เอฟซี ฟรายเดย์"/>
                <a:ea typeface="เอฟซี ฟรายเดย์"/>
                <a:cs typeface="เอฟซี ฟรายเดย์"/>
                <a:sym typeface="เอฟซี ฟรายเดย์"/>
              </a:rPr>
              <a:t>7. butuh_lagu_bridge(&lt;lagu1&gt;, &lt;lagu2&gt;) </a:t>
            </a:r>
          </a:p>
          <a:p>
            <a:pPr algn="just">
              <a:lnSpc>
                <a:spcPts val="3723"/>
              </a:lnSpc>
            </a:pPr>
            <a:r>
              <a:rPr lang="en-US" sz="2659">
                <a:solidFill>
                  <a:srgbClr val="7B5344"/>
                </a:solidFill>
                <a:latin typeface="เอฟซี ฟรายเดย์"/>
                <a:ea typeface="เอฟซี ฟรายเดย์"/>
                <a:cs typeface="เอฟซี ฟรายเดย์"/>
                <a:sym typeface="เอฟซี ฟรายเดย์"/>
              </a:rPr>
              <a:t>8. rekomendasi_urutan(&lt;lagu1&gt;, &lt;lagu2&gt;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262551" y="2007339"/>
            <a:ext cx="9230829" cy="5455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03"/>
              </a:lnSpc>
            </a:pPr>
            <a:r>
              <a:rPr lang="en-US" sz="2359">
                <a:solidFill>
                  <a:srgbClr val="7B5344"/>
                </a:solidFill>
                <a:latin typeface="เอฟซี ฟรายเดย์"/>
                <a:ea typeface="เอฟซี ฟรายเดย์"/>
                <a:cs typeface="เอฟซี ฟรายเดย์"/>
                <a:sym typeface="เอฟซี ฟรายเดย์"/>
              </a:rPr>
              <a:t>1. lagu_ekstrem(X) :- memiliki_atribut(X, _, sangat_tinggi, _) ; memiliki_atribut(X, _, rendah,_). </a:t>
            </a:r>
          </a:p>
          <a:p>
            <a:pPr algn="just">
              <a:lnSpc>
                <a:spcPts val="3303"/>
              </a:lnSpc>
            </a:pPr>
            <a:r>
              <a:rPr lang="en-US" sz="2359">
                <a:solidFill>
                  <a:srgbClr val="7B5344"/>
                </a:solidFill>
                <a:latin typeface="เอฟซี ฟรายเดย์"/>
                <a:ea typeface="เอฟซี ฟรายเดย์"/>
                <a:cs typeface="เอฟซี ฟรายเดย์"/>
                <a:sym typeface="เอฟซี ฟรายเดย์"/>
              </a:rPr>
              <a:t>2. pembentuk_outlier(X) :- lagu_ekstrem(X). </a:t>
            </a:r>
          </a:p>
          <a:p>
            <a:pPr algn="just">
              <a:lnSpc>
                <a:spcPts val="3303"/>
              </a:lnSpc>
            </a:pPr>
            <a:r>
              <a:rPr lang="en-US" sz="2359">
                <a:solidFill>
                  <a:srgbClr val="7B5344"/>
                </a:solidFill>
                <a:latin typeface="เอฟซี ฟรายเดย์"/>
                <a:ea typeface="เอฟซี ฟรายเดย์"/>
                <a:cs typeface="เอฟซี ฟรายเดย์"/>
                <a:sym typeface="เอฟซี ฟรายเดย์"/>
              </a:rPr>
              <a:t>3. wajib_kurasi_manual(X) :- pembentuk_outlier(X). </a:t>
            </a:r>
          </a:p>
          <a:p>
            <a:pPr algn="just">
              <a:lnSpc>
                <a:spcPts val="3303"/>
              </a:lnSpc>
            </a:pPr>
            <a:r>
              <a:rPr lang="en-US" sz="2359">
                <a:solidFill>
                  <a:srgbClr val="7B5344"/>
                </a:solidFill>
                <a:latin typeface="เอฟซี ฟรายเดย์"/>
                <a:ea typeface="เอฟซี ฟรายเดย์"/>
                <a:cs typeface="เอฟซี ฟรายเดย์"/>
                <a:sym typeface="เอฟซี ฟรายเดย์"/>
              </a:rPr>
              <a:t>4. beda_genre(X, Y) :- memiliki_atribut(X, Genre1, _, _), memiliki_atribut(Y, Genre2, _, _), Genre1 \= Genre2. </a:t>
            </a:r>
          </a:p>
          <a:p>
            <a:pPr algn="just">
              <a:lnSpc>
                <a:spcPts val="3303"/>
              </a:lnSpc>
            </a:pPr>
            <a:r>
              <a:rPr lang="en-US" sz="2359">
                <a:solidFill>
                  <a:srgbClr val="7B5344"/>
                </a:solidFill>
                <a:latin typeface="เอฟซี ฟรายเดย์"/>
                <a:ea typeface="เอฟซี ฟรายเดย์"/>
                <a:cs typeface="เอฟซี ฟรายเดย์"/>
                <a:sym typeface="เอฟซี ฟรายเดย์"/>
              </a:rPr>
              <a:t>5. energi_kontras(X, Y) :- memiliki_atribut(X, _, sangat_tinggi, _), (memiliki_atribut(Y, _, sedang, _) ; memiliki_atribut(Y, _, rendah, _)). </a:t>
            </a:r>
          </a:p>
          <a:p>
            <a:pPr algn="just">
              <a:lnSpc>
                <a:spcPts val="3303"/>
              </a:lnSpc>
            </a:pPr>
            <a:r>
              <a:rPr lang="en-US" sz="2359">
                <a:solidFill>
                  <a:srgbClr val="7B5344"/>
                </a:solidFill>
                <a:latin typeface="เอฟซี ฟรายเดย์"/>
                <a:ea typeface="เอฟซี ฟรายเดย์"/>
                <a:cs typeface="เอฟซี ฟรายเดย์"/>
                <a:sym typeface="เอฟซี ฟรายเดย์"/>
              </a:rPr>
              <a:t>6. transisi_kasar(X, Y) :- energi_kontras(X, Y) ; (jarak_graf(X, Y, Jarak), Jarak &gt; 0.7). </a:t>
            </a:r>
          </a:p>
          <a:p>
            <a:pPr algn="just">
              <a:lnSpc>
                <a:spcPts val="3303"/>
              </a:lnSpc>
            </a:pPr>
            <a:r>
              <a:rPr lang="en-US" sz="2359">
                <a:solidFill>
                  <a:srgbClr val="7B5344"/>
                </a:solidFill>
                <a:latin typeface="เอฟซี ฟรายเดย์"/>
                <a:ea typeface="เอฟซี ฟรายเดย์"/>
                <a:cs typeface="เอฟซี ฟรายเดย์"/>
                <a:sym typeface="เอฟซี ฟรายเดย์"/>
              </a:rPr>
              <a:t>7. transisi_harmonis(X, Y) :- jarak_graf(X, Y, Jarak), Jarak =&lt; 0.4. </a:t>
            </a:r>
          </a:p>
          <a:p>
            <a:pPr algn="just">
              <a:lnSpc>
                <a:spcPts val="3303"/>
              </a:lnSpc>
            </a:pPr>
            <a:r>
              <a:rPr lang="en-US" sz="2359">
                <a:solidFill>
                  <a:srgbClr val="7B5344"/>
                </a:solidFill>
                <a:latin typeface="เอฟซี ฟรายเดย์"/>
                <a:ea typeface="เอฟซี ฟรายเดย์"/>
                <a:cs typeface="เอฟซี ฟรายเดย์"/>
                <a:sym typeface="เอฟซี ฟรายเดย์"/>
              </a:rPr>
              <a:t>8. butuh_lagu_bridge(X, Y) :- transisi_kasar(X, Y). </a:t>
            </a:r>
          </a:p>
          <a:p>
            <a:pPr algn="just">
              <a:lnSpc>
                <a:spcPts val="3303"/>
              </a:lnSpc>
            </a:pPr>
            <a:r>
              <a:rPr lang="en-US" sz="2359">
                <a:solidFill>
                  <a:srgbClr val="7B5344"/>
                </a:solidFill>
                <a:latin typeface="เอฟซี ฟรายเดย์"/>
                <a:ea typeface="เอฟซี ฟรายเดย์"/>
                <a:cs typeface="เอฟซี ฟรายเดย์"/>
                <a:sym typeface="เอฟซี ฟรายเดย์"/>
              </a:rPr>
              <a:t>9. rekomendasi_urutan(X, Y) :- transisi_harmonis(X, Y).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3347800" y="-2605950"/>
            <a:ext cx="11592399" cy="17661550"/>
          </a:xfrm>
          <a:custGeom>
            <a:avLst/>
            <a:gdLst/>
            <a:ahLst/>
            <a:cxnLst/>
            <a:rect r="r" b="b" t="t" l="l"/>
            <a:pathLst>
              <a:path h="17661550" w="11592399">
                <a:moveTo>
                  <a:pt x="0" y="0"/>
                </a:moveTo>
                <a:lnTo>
                  <a:pt x="11592400" y="0"/>
                </a:lnTo>
                <a:lnTo>
                  <a:pt x="11592400" y="17661549"/>
                </a:lnTo>
                <a:lnTo>
                  <a:pt x="0" y="17661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318935">
            <a:off x="-93280" y="162820"/>
            <a:ext cx="1632129" cy="2301720"/>
          </a:xfrm>
          <a:custGeom>
            <a:avLst/>
            <a:gdLst/>
            <a:ahLst/>
            <a:cxnLst/>
            <a:rect r="r" b="b" t="t" l="l"/>
            <a:pathLst>
              <a:path h="2301720" w="1632129">
                <a:moveTo>
                  <a:pt x="0" y="0"/>
                </a:moveTo>
                <a:lnTo>
                  <a:pt x="1632129" y="0"/>
                </a:lnTo>
                <a:lnTo>
                  <a:pt x="1632129" y="2301720"/>
                </a:lnTo>
                <a:lnTo>
                  <a:pt x="0" y="23017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2318935">
            <a:off x="-52794" y="245062"/>
            <a:ext cx="1537093" cy="2167695"/>
          </a:xfrm>
          <a:custGeom>
            <a:avLst/>
            <a:gdLst/>
            <a:ahLst/>
            <a:cxnLst/>
            <a:rect r="r" b="b" t="t" l="l"/>
            <a:pathLst>
              <a:path h="2167695" w="1537093">
                <a:moveTo>
                  <a:pt x="0" y="0"/>
                </a:moveTo>
                <a:lnTo>
                  <a:pt x="1537093" y="0"/>
                </a:lnTo>
                <a:lnTo>
                  <a:pt x="1537093" y="2167695"/>
                </a:lnTo>
                <a:lnTo>
                  <a:pt x="0" y="21676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385659">
            <a:off x="-517286" y="8123373"/>
            <a:ext cx="3506797" cy="2269854"/>
          </a:xfrm>
          <a:custGeom>
            <a:avLst/>
            <a:gdLst/>
            <a:ahLst/>
            <a:cxnLst/>
            <a:rect r="r" b="b" t="t" l="l"/>
            <a:pathLst>
              <a:path h="2269854" w="3506797">
                <a:moveTo>
                  <a:pt x="0" y="0"/>
                </a:moveTo>
                <a:lnTo>
                  <a:pt x="3506798" y="0"/>
                </a:lnTo>
                <a:lnTo>
                  <a:pt x="3506798" y="2269854"/>
                </a:lnTo>
                <a:lnTo>
                  <a:pt x="0" y="22698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385659">
            <a:off x="-348778" y="8232443"/>
            <a:ext cx="3169782" cy="2051713"/>
          </a:xfrm>
          <a:custGeom>
            <a:avLst/>
            <a:gdLst/>
            <a:ahLst/>
            <a:cxnLst/>
            <a:rect r="r" b="b" t="t" l="l"/>
            <a:pathLst>
              <a:path h="2051713" w="3169782">
                <a:moveTo>
                  <a:pt x="0" y="0"/>
                </a:moveTo>
                <a:lnTo>
                  <a:pt x="3169782" y="0"/>
                </a:lnTo>
                <a:lnTo>
                  <a:pt x="3169782" y="2051714"/>
                </a:lnTo>
                <a:lnTo>
                  <a:pt x="0" y="20517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1298533" y="2407534"/>
            <a:ext cx="780354" cy="78035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48C7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36113" y="2331981"/>
            <a:ext cx="780354" cy="78035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8DDC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3319044" y="115888"/>
            <a:ext cx="11649912" cy="1635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00"/>
              </a:lnSpc>
            </a:pPr>
            <a:r>
              <a:rPr lang="en-US" sz="9500">
                <a:solidFill>
                  <a:srgbClr val="FAF8F4"/>
                </a:solidFill>
                <a:latin typeface="เอฟซี แคนดี้"/>
                <a:ea typeface="เอฟซี แคนดี้"/>
                <a:cs typeface="เอฟซี แคนดี้"/>
                <a:sym typeface="เอฟซี แคนดี้"/>
              </a:rPr>
              <a:t>Rule 3 Langkah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583956" y="2173655"/>
            <a:ext cx="13543444" cy="209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7B5344"/>
                </a:solidFill>
                <a:latin typeface="เอฟซี ฟรายเดย์"/>
                <a:ea typeface="เอฟซี ฟรายเดย์"/>
                <a:cs typeface="เอฟซี ฟรายเดย์"/>
                <a:sym typeface="เอฟซี ฟรายเดย์"/>
              </a:rPr>
              <a:t>∀𝑋∀𝑌((memiliki_atribut(𝑋,𝑔1, sangat_tinggi,𝑡1)</a:t>
            </a:r>
          </a:p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7B5344"/>
                </a:solidFill>
                <a:latin typeface="เอฟซี ฟรายเดย์"/>
                <a:ea typeface="เอฟซี ฟรายเดย์"/>
                <a:cs typeface="เอฟซี ฟรายเดย์"/>
                <a:sym typeface="เอฟซี ฟรายเดย์"/>
              </a:rPr>
              <a:t>∧(memiliki_atribut(𝑌,𝑔2, sedang,𝑡2)</a:t>
            </a:r>
          </a:p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7B5344"/>
                </a:solidFill>
                <a:latin typeface="เอฟซี ฟรายเดย์"/>
                <a:ea typeface="เอฟซี ฟรายเดย์"/>
                <a:cs typeface="เอฟซี ฟรายเดย์"/>
                <a:sym typeface="เอฟซี ฟรายเดย์"/>
              </a:rPr>
              <a:t>∨memiliki_atribut(𝑌,𝑔3, rendah,𝑡3))) → energi_kontras(𝑋,𝑌)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583956" y="4694973"/>
            <a:ext cx="13543444" cy="139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7B5344"/>
                </a:solidFill>
                <a:latin typeface="เอฟซี ฟรายเดย์"/>
                <a:ea typeface="เอฟซี ฟรายเดย์"/>
                <a:cs typeface="เอฟซี ฟรายเดย์"/>
                <a:sym typeface="เอฟซี ฟรายเดย์"/>
              </a:rPr>
              <a:t>∀𝑋∀𝑌∀𝑁((energi_kontras(𝑋,𝑌) ∨ (jarak_graf(𝑋,𝑌,𝑁) ∧ (𝑁 &gt; 0.7)))→transisi_kasar(𝑋,𝑌))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583956" y="7156689"/>
            <a:ext cx="13543444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7B5344"/>
                </a:solidFill>
                <a:latin typeface="เอฟซี ฟรายเดย์"/>
                <a:ea typeface="เอฟซี ฟรายเดย์"/>
                <a:cs typeface="เอฟซี ฟรายเดย์"/>
                <a:sym typeface="เอฟซี ฟรายเดย์"/>
              </a:rPr>
              <a:t>∀𝑋∀𝑌(transisi_kasar(𝑋,𝑌) → butuh_lagu_bridge(𝑋,𝑌))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98533" y="4780698"/>
            <a:ext cx="780354" cy="780354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48C7E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36113" y="4705145"/>
            <a:ext cx="780354" cy="780354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8DDCD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98533" y="7153862"/>
            <a:ext cx="780354" cy="780354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48C7E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36113" y="7078309"/>
            <a:ext cx="780354" cy="780354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8DDCD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6127400" y="7934216"/>
            <a:ext cx="2375102" cy="2715383"/>
            <a:chOff x="0" y="0"/>
            <a:chExt cx="3166803" cy="362051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166803" cy="3620510"/>
            </a:xfrm>
            <a:custGeom>
              <a:avLst/>
              <a:gdLst/>
              <a:ahLst/>
              <a:cxnLst/>
              <a:rect r="r" b="b" t="t" l="l"/>
              <a:pathLst>
                <a:path h="3620510" w="3166803">
                  <a:moveTo>
                    <a:pt x="0" y="0"/>
                  </a:moveTo>
                  <a:lnTo>
                    <a:pt x="3166803" y="0"/>
                  </a:lnTo>
                  <a:lnTo>
                    <a:pt x="3166803" y="3620510"/>
                  </a:lnTo>
                  <a:lnTo>
                    <a:pt x="0" y="36205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91261" y="104336"/>
              <a:ext cx="2984281" cy="3411838"/>
            </a:xfrm>
            <a:custGeom>
              <a:avLst/>
              <a:gdLst/>
              <a:ahLst/>
              <a:cxnLst/>
              <a:rect r="r" b="b" t="t" l="l"/>
              <a:pathLst>
                <a:path h="3411838" w="2984281">
                  <a:moveTo>
                    <a:pt x="0" y="0"/>
                  </a:moveTo>
                  <a:lnTo>
                    <a:pt x="2984281" y="0"/>
                  </a:lnTo>
                  <a:lnTo>
                    <a:pt x="2984281" y="3411838"/>
                  </a:lnTo>
                  <a:lnTo>
                    <a:pt x="0" y="34118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3347800" y="-2605950"/>
            <a:ext cx="11592399" cy="17661550"/>
          </a:xfrm>
          <a:custGeom>
            <a:avLst/>
            <a:gdLst/>
            <a:ahLst/>
            <a:cxnLst/>
            <a:rect r="r" b="b" t="t" l="l"/>
            <a:pathLst>
              <a:path h="17661550" w="11592399">
                <a:moveTo>
                  <a:pt x="0" y="0"/>
                </a:moveTo>
                <a:lnTo>
                  <a:pt x="11592400" y="0"/>
                </a:lnTo>
                <a:lnTo>
                  <a:pt x="11592400" y="17661549"/>
                </a:lnTo>
                <a:lnTo>
                  <a:pt x="0" y="17661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318935">
            <a:off x="-93280" y="162820"/>
            <a:ext cx="1632129" cy="2301720"/>
          </a:xfrm>
          <a:custGeom>
            <a:avLst/>
            <a:gdLst/>
            <a:ahLst/>
            <a:cxnLst/>
            <a:rect r="r" b="b" t="t" l="l"/>
            <a:pathLst>
              <a:path h="2301720" w="1632129">
                <a:moveTo>
                  <a:pt x="0" y="0"/>
                </a:moveTo>
                <a:lnTo>
                  <a:pt x="1632129" y="0"/>
                </a:lnTo>
                <a:lnTo>
                  <a:pt x="1632129" y="2301720"/>
                </a:lnTo>
                <a:lnTo>
                  <a:pt x="0" y="23017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2318935">
            <a:off x="-52794" y="245062"/>
            <a:ext cx="1537093" cy="2167695"/>
          </a:xfrm>
          <a:custGeom>
            <a:avLst/>
            <a:gdLst/>
            <a:ahLst/>
            <a:cxnLst/>
            <a:rect r="r" b="b" t="t" l="l"/>
            <a:pathLst>
              <a:path h="2167695" w="1537093">
                <a:moveTo>
                  <a:pt x="0" y="0"/>
                </a:moveTo>
                <a:lnTo>
                  <a:pt x="1537093" y="0"/>
                </a:lnTo>
                <a:lnTo>
                  <a:pt x="1537093" y="2167695"/>
                </a:lnTo>
                <a:lnTo>
                  <a:pt x="0" y="21676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5" id="5"/>
          <p:cNvGrpSpPr/>
          <p:nvPr/>
        </p:nvGrpSpPr>
        <p:grpSpPr>
          <a:xfrm rot="0">
            <a:off x="16127400" y="7934216"/>
            <a:ext cx="2375102" cy="2715383"/>
            <a:chOff x="0" y="0"/>
            <a:chExt cx="3166803" cy="36205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166803" cy="3620510"/>
            </a:xfrm>
            <a:custGeom>
              <a:avLst/>
              <a:gdLst/>
              <a:ahLst/>
              <a:cxnLst/>
              <a:rect r="r" b="b" t="t" l="l"/>
              <a:pathLst>
                <a:path h="3620510" w="3166803">
                  <a:moveTo>
                    <a:pt x="0" y="0"/>
                  </a:moveTo>
                  <a:lnTo>
                    <a:pt x="3166803" y="0"/>
                  </a:lnTo>
                  <a:lnTo>
                    <a:pt x="3166803" y="3620510"/>
                  </a:lnTo>
                  <a:lnTo>
                    <a:pt x="0" y="36205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91261" y="104336"/>
              <a:ext cx="2984281" cy="3411838"/>
            </a:xfrm>
            <a:custGeom>
              <a:avLst/>
              <a:gdLst/>
              <a:ahLst/>
              <a:cxnLst/>
              <a:rect r="r" b="b" t="t" l="l"/>
              <a:pathLst>
                <a:path h="3411838" w="2984281">
                  <a:moveTo>
                    <a:pt x="0" y="0"/>
                  </a:moveTo>
                  <a:lnTo>
                    <a:pt x="2984281" y="0"/>
                  </a:lnTo>
                  <a:lnTo>
                    <a:pt x="2984281" y="3411838"/>
                  </a:lnTo>
                  <a:lnTo>
                    <a:pt x="0" y="34118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756316" y="2406738"/>
            <a:ext cx="6327354" cy="2499824"/>
          </a:xfrm>
          <a:custGeom>
            <a:avLst/>
            <a:gdLst/>
            <a:ahLst/>
            <a:cxnLst/>
            <a:rect r="r" b="b" t="t" l="l"/>
            <a:pathLst>
              <a:path h="2499824" w="6327354">
                <a:moveTo>
                  <a:pt x="0" y="0"/>
                </a:moveTo>
                <a:lnTo>
                  <a:pt x="6327355" y="0"/>
                </a:lnTo>
                <a:lnTo>
                  <a:pt x="6327355" y="2499824"/>
                </a:lnTo>
                <a:lnTo>
                  <a:pt x="0" y="249982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319044" y="115888"/>
            <a:ext cx="11649912" cy="1635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00"/>
              </a:lnSpc>
            </a:pPr>
            <a:r>
              <a:rPr lang="en-US" sz="9500">
                <a:solidFill>
                  <a:srgbClr val="FAF8F4"/>
                </a:solidFill>
                <a:latin typeface="เอฟซี แคนดี้"/>
                <a:ea typeface="เอฟซี แคนดี้"/>
                <a:cs typeface="เอฟซี แคนดี้"/>
                <a:sym typeface="เอฟซี แคนดี้"/>
              </a:rPr>
              <a:t>Mekanisme Unifikasi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56316" y="1480824"/>
            <a:ext cx="1946061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7B5344"/>
                </a:solidFill>
                <a:latin typeface="เอฟซี ฟรายเดย์"/>
                <a:ea typeface="เอฟซี ฟรายเดย์"/>
                <a:cs typeface="เอฟซี ฟรายเดย์"/>
                <a:sym typeface="เอฟซี ฟรายเดย์"/>
              </a:rPr>
              <a:t>Rule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56316" y="5076825"/>
            <a:ext cx="8512891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>
                <a:solidFill>
                  <a:srgbClr val="7B5344"/>
                </a:solidFill>
                <a:latin typeface="เอฟซี ฟรายเดย์"/>
                <a:ea typeface="เอฟซี ฟรายเดย์"/>
                <a:cs typeface="เอฟซี ฟรายเดย์"/>
                <a:sym typeface="เอฟซี ฟรายเดย์"/>
              </a:rPr>
              <a:t>Query ?- pembentuk_outlier(tripping_wires)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56316" y="5547995"/>
            <a:ext cx="15682182" cy="2666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7B5344"/>
                </a:solidFill>
                <a:latin typeface="เอฟซี ฟรายเดย์"/>
                <a:ea typeface="เอฟซี ฟรายเดย์"/>
                <a:cs typeface="เอฟซี ฟรายเดย์"/>
                <a:sym typeface="เอฟซี ฟรายเดย์"/>
              </a:rPr>
              <a:t>Melalui proses unifikasi, variabel X disubstitusikan dengan konstanta tripping_wires, sehingga diperoleh Most General Unifier (MGU): {X=tripping_wires}.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7B5344"/>
                </a:solidFill>
                <a:latin typeface="เอฟซี ฟรายเดย์"/>
                <a:ea typeface="เอฟซี ฟรายเดย์"/>
                <a:cs typeface="เอฟซี ฟรายเดย์"/>
                <a:sym typeface="เอฟซี ฟรายเดย์"/>
              </a:rPr>
              <a:t>Selanjutnya, sistem memeriksa apakah lagu_ekstrem(tripping_wires) bernilai benar. Berdasarkan fakta atribut lagu:</a:t>
            </a:r>
          </a:p>
          <a:p>
            <a:pPr algn="just">
              <a:lnSpc>
                <a:spcPts val="4200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2450932" y="7759563"/>
            <a:ext cx="10636568" cy="110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เอฟซี ฟรายเดย์"/>
                <a:ea typeface="เอฟซี ฟรายเดย์"/>
                <a:cs typeface="เอฟซี ฟรายเดย์"/>
                <a:sym typeface="เอฟซี ฟรายเดย์"/>
              </a:rPr>
              <a:t>memiliki_atribut(tripping_wires, metal, sangat_tinggi, cepat).</a:t>
            </a:r>
          </a:p>
          <a:p>
            <a:pPr algn="just">
              <a:lnSpc>
                <a:spcPts val="4480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756316" y="8321538"/>
            <a:ext cx="11464952" cy="110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>
                <a:solidFill>
                  <a:srgbClr val="7B5344"/>
                </a:solidFill>
                <a:latin typeface="เอฟซี ฟรายเดย์"/>
                <a:ea typeface="เอฟซี ฟรายเดย์"/>
                <a:cs typeface="เอฟซี ฟรายเดย์"/>
                <a:sym typeface="เอฟซี ฟรายเดย์"/>
              </a:rPr>
              <a:t>lagu tersebut memenuhi kriteria energi ekstrem, sehingga inferensi berhasil dan query dinyatakan TRUE.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3347800" y="-2605950"/>
            <a:ext cx="11592399" cy="17661550"/>
          </a:xfrm>
          <a:custGeom>
            <a:avLst/>
            <a:gdLst/>
            <a:ahLst/>
            <a:cxnLst/>
            <a:rect r="r" b="b" t="t" l="l"/>
            <a:pathLst>
              <a:path h="17661550" w="11592399">
                <a:moveTo>
                  <a:pt x="0" y="0"/>
                </a:moveTo>
                <a:lnTo>
                  <a:pt x="11592400" y="0"/>
                </a:lnTo>
                <a:lnTo>
                  <a:pt x="11592400" y="17661549"/>
                </a:lnTo>
                <a:lnTo>
                  <a:pt x="0" y="17661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318935">
            <a:off x="-93280" y="162820"/>
            <a:ext cx="1632129" cy="2301720"/>
          </a:xfrm>
          <a:custGeom>
            <a:avLst/>
            <a:gdLst/>
            <a:ahLst/>
            <a:cxnLst/>
            <a:rect r="r" b="b" t="t" l="l"/>
            <a:pathLst>
              <a:path h="2301720" w="1632129">
                <a:moveTo>
                  <a:pt x="0" y="0"/>
                </a:moveTo>
                <a:lnTo>
                  <a:pt x="1632129" y="0"/>
                </a:lnTo>
                <a:lnTo>
                  <a:pt x="1632129" y="2301720"/>
                </a:lnTo>
                <a:lnTo>
                  <a:pt x="0" y="23017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2318935">
            <a:off x="-52794" y="245062"/>
            <a:ext cx="1537093" cy="2167695"/>
          </a:xfrm>
          <a:custGeom>
            <a:avLst/>
            <a:gdLst/>
            <a:ahLst/>
            <a:cxnLst/>
            <a:rect r="r" b="b" t="t" l="l"/>
            <a:pathLst>
              <a:path h="2167695" w="1537093">
                <a:moveTo>
                  <a:pt x="0" y="0"/>
                </a:moveTo>
                <a:lnTo>
                  <a:pt x="1537093" y="0"/>
                </a:lnTo>
                <a:lnTo>
                  <a:pt x="1537093" y="2167695"/>
                </a:lnTo>
                <a:lnTo>
                  <a:pt x="0" y="21676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5" id="5"/>
          <p:cNvGrpSpPr/>
          <p:nvPr/>
        </p:nvGrpSpPr>
        <p:grpSpPr>
          <a:xfrm rot="0">
            <a:off x="16127400" y="7934216"/>
            <a:ext cx="2375102" cy="2715383"/>
            <a:chOff x="0" y="0"/>
            <a:chExt cx="3166803" cy="36205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166803" cy="3620510"/>
            </a:xfrm>
            <a:custGeom>
              <a:avLst/>
              <a:gdLst/>
              <a:ahLst/>
              <a:cxnLst/>
              <a:rect r="r" b="b" t="t" l="l"/>
              <a:pathLst>
                <a:path h="3620510" w="3166803">
                  <a:moveTo>
                    <a:pt x="0" y="0"/>
                  </a:moveTo>
                  <a:lnTo>
                    <a:pt x="3166803" y="0"/>
                  </a:lnTo>
                  <a:lnTo>
                    <a:pt x="3166803" y="3620510"/>
                  </a:lnTo>
                  <a:lnTo>
                    <a:pt x="0" y="36205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91261" y="104336"/>
              <a:ext cx="2984281" cy="3411838"/>
            </a:xfrm>
            <a:custGeom>
              <a:avLst/>
              <a:gdLst/>
              <a:ahLst/>
              <a:cxnLst/>
              <a:rect r="r" b="b" t="t" l="l"/>
              <a:pathLst>
                <a:path h="3411838" w="2984281">
                  <a:moveTo>
                    <a:pt x="0" y="0"/>
                  </a:moveTo>
                  <a:lnTo>
                    <a:pt x="2984281" y="0"/>
                  </a:lnTo>
                  <a:lnTo>
                    <a:pt x="2984281" y="3411838"/>
                  </a:lnTo>
                  <a:lnTo>
                    <a:pt x="0" y="34118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756316" y="2406738"/>
            <a:ext cx="6327354" cy="2499824"/>
          </a:xfrm>
          <a:custGeom>
            <a:avLst/>
            <a:gdLst/>
            <a:ahLst/>
            <a:cxnLst/>
            <a:rect r="r" b="b" t="t" l="l"/>
            <a:pathLst>
              <a:path h="2499824" w="6327354">
                <a:moveTo>
                  <a:pt x="0" y="0"/>
                </a:moveTo>
                <a:lnTo>
                  <a:pt x="6327355" y="0"/>
                </a:lnTo>
                <a:lnTo>
                  <a:pt x="6327355" y="2499824"/>
                </a:lnTo>
                <a:lnTo>
                  <a:pt x="0" y="249982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319044" y="115888"/>
            <a:ext cx="11649912" cy="1635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00"/>
              </a:lnSpc>
            </a:pPr>
            <a:r>
              <a:rPr lang="en-US" sz="9500">
                <a:solidFill>
                  <a:srgbClr val="FAF8F4"/>
                </a:solidFill>
                <a:latin typeface="เอฟซี แคนดี้"/>
                <a:ea typeface="เอฟซี แคนดี้"/>
                <a:cs typeface="เอฟซี แคนดี้"/>
                <a:sym typeface="เอฟซี แคนดี้"/>
              </a:rPr>
              <a:t>Resolusi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56316" y="1480824"/>
            <a:ext cx="1946061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7B5344"/>
                </a:solidFill>
                <a:latin typeface="เอฟซี ฟรายเดย์"/>
                <a:ea typeface="เอฟซี ฟรายเดย์"/>
                <a:cs typeface="เอฟซี ฟรายเดย์"/>
                <a:sym typeface="เอฟซี ฟรายเดย์"/>
              </a:rPr>
              <a:t>Rule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56316" y="5076825"/>
            <a:ext cx="8512891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>
                <a:solidFill>
                  <a:srgbClr val="7B5344"/>
                </a:solidFill>
                <a:latin typeface="เอฟซี ฟรายเดย์"/>
                <a:ea typeface="เอฟซี ฟรายเดย์"/>
                <a:cs typeface="เอฟซี ฟรายเดย์"/>
                <a:sym typeface="เอฟซี ฟรายเดย์"/>
              </a:rPr>
              <a:t>dapat ditulis dalam CNF sebagai: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605818" y="5547995"/>
            <a:ext cx="15682182" cy="53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เอฟซี ฟรายเดย์"/>
                <a:ea typeface="เอฟซี ฟรายเดย์"/>
                <a:cs typeface="เอฟซี ฟรายเดย์"/>
                <a:sym typeface="เอฟซี ฟรายเดย์"/>
              </a:rPr>
              <a:t>¬lagu_ekstrem(X)∨pembentuk_outlier(X)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605818" y="6671944"/>
            <a:ext cx="10636568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เอฟซี ฟรายเดย์"/>
                <a:ea typeface="เอฟซี ฟรายเดย์"/>
                <a:cs typeface="เอฟซี ฟรายเดย์"/>
                <a:sym typeface="เอฟซี ฟรายเดย์"/>
              </a:rPr>
              <a:t>¬pembentuk_outlier(tripping_wires)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56316" y="6084819"/>
            <a:ext cx="14868859" cy="110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>
                <a:solidFill>
                  <a:srgbClr val="7B5344"/>
                </a:solidFill>
                <a:latin typeface="เอฟซี ฟรายเดย์"/>
                <a:ea typeface="เอฟซี ฟรายเดย์"/>
                <a:cs typeface="เอฟซี ฟรายเดย์"/>
                <a:sym typeface="เอฟซี ฟรายเดย์"/>
              </a:rPr>
              <a:t>Untuk membuktikan query pembentuk_outlier(tripping_wires), dilakukan negasi terhadap goal</a:t>
            </a:r>
          </a:p>
          <a:p>
            <a:pPr algn="just">
              <a:lnSpc>
                <a:spcPts val="4480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756316" y="7390764"/>
            <a:ext cx="14070598" cy="1671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>
                <a:solidFill>
                  <a:srgbClr val="7B5344"/>
                </a:solidFill>
                <a:latin typeface="เอฟซี ฟรายเดย์"/>
                <a:ea typeface="เอฟซี ฟรายเดย์"/>
                <a:cs typeface="เอฟซี ฟรายเดย์"/>
                <a:sym typeface="เอฟซี ฟรายเดย์"/>
              </a:rPr>
              <a:t>Melalui proses resolusi antara klausa aturan dan fakta lagu_ekstrem(tripping_wires), sistem menghasilkan klausa kosong. Klausa kosong ini menandakan bahwa kontradiksi telah tercapai, sehingga kesimpulan awal terbukti valid secara logika.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3347800" y="-2605950"/>
            <a:ext cx="11592399" cy="17661550"/>
          </a:xfrm>
          <a:custGeom>
            <a:avLst/>
            <a:gdLst/>
            <a:ahLst/>
            <a:cxnLst/>
            <a:rect r="r" b="b" t="t" l="l"/>
            <a:pathLst>
              <a:path h="17661550" w="11592399">
                <a:moveTo>
                  <a:pt x="0" y="0"/>
                </a:moveTo>
                <a:lnTo>
                  <a:pt x="11592400" y="0"/>
                </a:lnTo>
                <a:lnTo>
                  <a:pt x="11592400" y="17661549"/>
                </a:lnTo>
                <a:lnTo>
                  <a:pt x="0" y="17661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318935">
            <a:off x="-93280" y="162820"/>
            <a:ext cx="1632129" cy="2301720"/>
          </a:xfrm>
          <a:custGeom>
            <a:avLst/>
            <a:gdLst/>
            <a:ahLst/>
            <a:cxnLst/>
            <a:rect r="r" b="b" t="t" l="l"/>
            <a:pathLst>
              <a:path h="2301720" w="1632129">
                <a:moveTo>
                  <a:pt x="0" y="0"/>
                </a:moveTo>
                <a:lnTo>
                  <a:pt x="1632129" y="0"/>
                </a:lnTo>
                <a:lnTo>
                  <a:pt x="1632129" y="2301720"/>
                </a:lnTo>
                <a:lnTo>
                  <a:pt x="0" y="23017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2318935">
            <a:off x="-52794" y="245062"/>
            <a:ext cx="1537093" cy="2167695"/>
          </a:xfrm>
          <a:custGeom>
            <a:avLst/>
            <a:gdLst/>
            <a:ahLst/>
            <a:cxnLst/>
            <a:rect r="r" b="b" t="t" l="l"/>
            <a:pathLst>
              <a:path h="2167695" w="1537093">
                <a:moveTo>
                  <a:pt x="0" y="0"/>
                </a:moveTo>
                <a:lnTo>
                  <a:pt x="1537093" y="0"/>
                </a:lnTo>
                <a:lnTo>
                  <a:pt x="1537093" y="2167695"/>
                </a:lnTo>
                <a:lnTo>
                  <a:pt x="0" y="21676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5" id="5"/>
          <p:cNvGrpSpPr/>
          <p:nvPr/>
        </p:nvGrpSpPr>
        <p:grpSpPr>
          <a:xfrm rot="0">
            <a:off x="16127400" y="7934216"/>
            <a:ext cx="2375102" cy="2715383"/>
            <a:chOff x="0" y="0"/>
            <a:chExt cx="3166803" cy="36205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166803" cy="3620510"/>
            </a:xfrm>
            <a:custGeom>
              <a:avLst/>
              <a:gdLst/>
              <a:ahLst/>
              <a:cxnLst/>
              <a:rect r="r" b="b" t="t" l="l"/>
              <a:pathLst>
                <a:path h="3620510" w="3166803">
                  <a:moveTo>
                    <a:pt x="0" y="0"/>
                  </a:moveTo>
                  <a:lnTo>
                    <a:pt x="3166803" y="0"/>
                  </a:lnTo>
                  <a:lnTo>
                    <a:pt x="3166803" y="3620510"/>
                  </a:lnTo>
                  <a:lnTo>
                    <a:pt x="0" y="36205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91261" y="104336"/>
              <a:ext cx="2984281" cy="3411838"/>
            </a:xfrm>
            <a:custGeom>
              <a:avLst/>
              <a:gdLst/>
              <a:ahLst/>
              <a:cxnLst/>
              <a:rect r="r" b="b" t="t" l="l"/>
              <a:pathLst>
                <a:path h="3411838" w="2984281">
                  <a:moveTo>
                    <a:pt x="0" y="0"/>
                  </a:moveTo>
                  <a:lnTo>
                    <a:pt x="2984281" y="0"/>
                  </a:lnTo>
                  <a:lnTo>
                    <a:pt x="2984281" y="3411838"/>
                  </a:lnTo>
                  <a:lnTo>
                    <a:pt x="0" y="34118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756316" y="2066225"/>
            <a:ext cx="9480229" cy="2879620"/>
          </a:xfrm>
          <a:custGeom>
            <a:avLst/>
            <a:gdLst/>
            <a:ahLst/>
            <a:cxnLst/>
            <a:rect r="r" b="b" t="t" l="l"/>
            <a:pathLst>
              <a:path h="2879620" w="9480229">
                <a:moveTo>
                  <a:pt x="0" y="0"/>
                </a:moveTo>
                <a:lnTo>
                  <a:pt x="9480230" y="0"/>
                </a:lnTo>
                <a:lnTo>
                  <a:pt x="9480230" y="2879619"/>
                </a:lnTo>
                <a:lnTo>
                  <a:pt x="0" y="287961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756316" y="4945844"/>
            <a:ext cx="11301259" cy="3390378"/>
          </a:xfrm>
          <a:custGeom>
            <a:avLst/>
            <a:gdLst/>
            <a:ahLst/>
            <a:cxnLst/>
            <a:rect r="r" b="b" t="t" l="l"/>
            <a:pathLst>
              <a:path h="3390378" w="11301259">
                <a:moveTo>
                  <a:pt x="0" y="0"/>
                </a:moveTo>
                <a:lnTo>
                  <a:pt x="11301259" y="0"/>
                </a:lnTo>
                <a:lnTo>
                  <a:pt x="11301259" y="3390378"/>
                </a:lnTo>
                <a:lnTo>
                  <a:pt x="0" y="339037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370124" y="2066225"/>
            <a:ext cx="11301259" cy="3376251"/>
          </a:xfrm>
          <a:custGeom>
            <a:avLst/>
            <a:gdLst/>
            <a:ahLst/>
            <a:cxnLst/>
            <a:rect r="r" b="b" t="t" l="l"/>
            <a:pathLst>
              <a:path h="3376251" w="11301259">
                <a:moveTo>
                  <a:pt x="0" y="0"/>
                </a:moveTo>
                <a:lnTo>
                  <a:pt x="11301259" y="0"/>
                </a:lnTo>
                <a:lnTo>
                  <a:pt x="11301259" y="3376251"/>
                </a:lnTo>
                <a:lnTo>
                  <a:pt x="0" y="337625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370124" y="5287689"/>
            <a:ext cx="11301259" cy="3446884"/>
          </a:xfrm>
          <a:custGeom>
            <a:avLst/>
            <a:gdLst/>
            <a:ahLst/>
            <a:cxnLst/>
            <a:rect r="r" b="b" t="t" l="l"/>
            <a:pathLst>
              <a:path h="3446884" w="11301259">
                <a:moveTo>
                  <a:pt x="0" y="0"/>
                </a:moveTo>
                <a:lnTo>
                  <a:pt x="11301259" y="0"/>
                </a:lnTo>
                <a:lnTo>
                  <a:pt x="11301259" y="3446884"/>
                </a:lnTo>
                <a:lnTo>
                  <a:pt x="0" y="344688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520783" y="233050"/>
            <a:ext cx="11649912" cy="1635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00"/>
              </a:lnSpc>
            </a:pPr>
            <a:r>
              <a:rPr lang="en-US" sz="9500">
                <a:solidFill>
                  <a:srgbClr val="FAF8F4"/>
                </a:solidFill>
                <a:latin typeface="เอฟซี แคนดี้"/>
                <a:ea typeface="เอฟซี แคนดี้"/>
                <a:cs typeface="เอฟซี แคนดี้"/>
                <a:sym typeface="เอฟซี แคนดี้"/>
              </a:rPr>
              <a:t>Hasil Uji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3347800" y="-2605950"/>
            <a:ext cx="11592399" cy="17661550"/>
          </a:xfrm>
          <a:custGeom>
            <a:avLst/>
            <a:gdLst/>
            <a:ahLst/>
            <a:cxnLst/>
            <a:rect r="r" b="b" t="t" l="l"/>
            <a:pathLst>
              <a:path h="17661550" w="11592399">
                <a:moveTo>
                  <a:pt x="0" y="0"/>
                </a:moveTo>
                <a:lnTo>
                  <a:pt x="11592400" y="0"/>
                </a:lnTo>
                <a:lnTo>
                  <a:pt x="11592400" y="17661549"/>
                </a:lnTo>
                <a:lnTo>
                  <a:pt x="0" y="17661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318935">
            <a:off x="-93280" y="162820"/>
            <a:ext cx="1632129" cy="2301720"/>
          </a:xfrm>
          <a:custGeom>
            <a:avLst/>
            <a:gdLst/>
            <a:ahLst/>
            <a:cxnLst/>
            <a:rect r="r" b="b" t="t" l="l"/>
            <a:pathLst>
              <a:path h="2301720" w="1632129">
                <a:moveTo>
                  <a:pt x="0" y="0"/>
                </a:moveTo>
                <a:lnTo>
                  <a:pt x="1632129" y="0"/>
                </a:lnTo>
                <a:lnTo>
                  <a:pt x="1632129" y="2301720"/>
                </a:lnTo>
                <a:lnTo>
                  <a:pt x="0" y="23017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2318935">
            <a:off x="-52794" y="245062"/>
            <a:ext cx="1537093" cy="2167695"/>
          </a:xfrm>
          <a:custGeom>
            <a:avLst/>
            <a:gdLst/>
            <a:ahLst/>
            <a:cxnLst/>
            <a:rect r="r" b="b" t="t" l="l"/>
            <a:pathLst>
              <a:path h="2167695" w="1537093">
                <a:moveTo>
                  <a:pt x="0" y="0"/>
                </a:moveTo>
                <a:lnTo>
                  <a:pt x="1537093" y="0"/>
                </a:lnTo>
                <a:lnTo>
                  <a:pt x="1537093" y="2167695"/>
                </a:lnTo>
                <a:lnTo>
                  <a:pt x="0" y="21676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5" id="5"/>
          <p:cNvGrpSpPr/>
          <p:nvPr/>
        </p:nvGrpSpPr>
        <p:grpSpPr>
          <a:xfrm rot="0">
            <a:off x="16127400" y="7934216"/>
            <a:ext cx="2375102" cy="2715383"/>
            <a:chOff x="0" y="0"/>
            <a:chExt cx="3166803" cy="36205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166803" cy="3620510"/>
            </a:xfrm>
            <a:custGeom>
              <a:avLst/>
              <a:gdLst/>
              <a:ahLst/>
              <a:cxnLst/>
              <a:rect r="r" b="b" t="t" l="l"/>
              <a:pathLst>
                <a:path h="3620510" w="3166803">
                  <a:moveTo>
                    <a:pt x="0" y="0"/>
                  </a:moveTo>
                  <a:lnTo>
                    <a:pt x="3166803" y="0"/>
                  </a:lnTo>
                  <a:lnTo>
                    <a:pt x="3166803" y="3620510"/>
                  </a:lnTo>
                  <a:lnTo>
                    <a:pt x="0" y="36205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91261" y="104336"/>
              <a:ext cx="2984281" cy="3411838"/>
            </a:xfrm>
            <a:custGeom>
              <a:avLst/>
              <a:gdLst/>
              <a:ahLst/>
              <a:cxnLst/>
              <a:rect r="r" b="b" t="t" l="l"/>
              <a:pathLst>
                <a:path h="3411838" w="2984281">
                  <a:moveTo>
                    <a:pt x="0" y="0"/>
                  </a:moveTo>
                  <a:lnTo>
                    <a:pt x="2984281" y="0"/>
                  </a:lnTo>
                  <a:lnTo>
                    <a:pt x="2984281" y="3411838"/>
                  </a:lnTo>
                  <a:lnTo>
                    <a:pt x="0" y="34118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992891" y="2024670"/>
            <a:ext cx="9577804" cy="3412093"/>
          </a:xfrm>
          <a:custGeom>
            <a:avLst/>
            <a:gdLst/>
            <a:ahLst/>
            <a:cxnLst/>
            <a:rect r="r" b="b" t="t" l="l"/>
            <a:pathLst>
              <a:path h="3412093" w="9577804">
                <a:moveTo>
                  <a:pt x="0" y="0"/>
                </a:moveTo>
                <a:lnTo>
                  <a:pt x="9577804" y="0"/>
                </a:lnTo>
                <a:lnTo>
                  <a:pt x="9577804" y="3412093"/>
                </a:lnTo>
                <a:lnTo>
                  <a:pt x="0" y="341209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31163" y="5302098"/>
            <a:ext cx="11301259" cy="3376251"/>
          </a:xfrm>
          <a:custGeom>
            <a:avLst/>
            <a:gdLst/>
            <a:ahLst/>
            <a:cxnLst/>
            <a:rect r="r" b="b" t="t" l="l"/>
            <a:pathLst>
              <a:path h="3376251" w="11301259">
                <a:moveTo>
                  <a:pt x="0" y="0"/>
                </a:moveTo>
                <a:lnTo>
                  <a:pt x="11301259" y="0"/>
                </a:lnTo>
                <a:lnTo>
                  <a:pt x="11301259" y="3376251"/>
                </a:lnTo>
                <a:lnTo>
                  <a:pt x="0" y="337625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921462" y="2024670"/>
            <a:ext cx="9561824" cy="3454209"/>
          </a:xfrm>
          <a:custGeom>
            <a:avLst/>
            <a:gdLst/>
            <a:ahLst/>
            <a:cxnLst/>
            <a:rect r="r" b="b" t="t" l="l"/>
            <a:pathLst>
              <a:path h="3454209" w="9561824">
                <a:moveTo>
                  <a:pt x="0" y="0"/>
                </a:moveTo>
                <a:lnTo>
                  <a:pt x="9561824" y="0"/>
                </a:lnTo>
                <a:lnTo>
                  <a:pt x="9561824" y="3454209"/>
                </a:lnTo>
                <a:lnTo>
                  <a:pt x="0" y="345420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661798" y="5302098"/>
            <a:ext cx="9840704" cy="2952211"/>
          </a:xfrm>
          <a:custGeom>
            <a:avLst/>
            <a:gdLst/>
            <a:ahLst/>
            <a:cxnLst/>
            <a:rect r="r" b="b" t="t" l="l"/>
            <a:pathLst>
              <a:path h="2952211" w="9840704">
                <a:moveTo>
                  <a:pt x="0" y="0"/>
                </a:moveTo>
                <a:lnTo>
                  <a:pt x="9840704" y="0"/>
                </a:lnTo>
                <a:lnTo>
                  <a:pt x="9840704" y="2952211"/>
                </a:lnTo>
                <a:lnTo>
                  <a:pt x="0" y="295221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520783" y="233050"/>
            <a:ext cx="11649912" cy="1635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00"/>
              </a:lnSpc>
            </a:pPr>
            <a:r>
              <a:rPr lang="en-US" sz="9500">
                <a:solidFill>
                  <a:srgbClr val="FAF8F4"/>
                </a:solidFill>
                <a:latin typeface="เอฟซี แคนดี้"/>
                <a:ea typeface="เอฟซี แคนดี้"/>
                <a:cs typeface="เอฟซี แคนดี้"/>
                <a:sym typeface="เอฟซี แคนดี้"/>
              </a:rPr>
              <a:t>Hasil Uji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92891" y="8909050"/>
            <a:ext cx="13655140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7B5344"/>
                </a:solidFill>
                <a:latin typeface="เอฟซี ฟรายเดย์"/>
                <a:ea typeface="เอฟซี ฟรายเดย์"/>
                <a:cs typeface="เอฟซี ฟรายเดย์"/>
                <a:sym typeface="เอฟซี ฟรายเดย์"/>
              </a:rPr>
              <a:t>Pada tahap ini dilakukan pengujian inferensi terhadap Knowledge Base menggunakan beberapa query utama. Hasil inferensi menunjukkan bahwa sistem mampu menarik kesimpulan kebijakan secara otomatis berdasarkan aturan FOL yang telah didefinisikan.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3034575" y="-3614563"/>
            <a:ext cx="11592399" cy="17661550"/>
          </a:xfrm>
          <a:custGeom>
            <a:avLst/>
            <a:gdLst/>
            <a:ahLst/>
            <a:cxnLst/>
            <a:rect r="r" b="b" t="t" l="l"/>
            <a:pathLst>
              <a:path h="17661550" w="11592399">
                <a:moveTo>
                  <a:pt x="0" y="0"/>
                </a:moveTo>
                <a:lnTo>
                  <a:pt x="11592399" y="0"/>
                </a:lnTo>
                <a:lnTo>
                  <a:pt x="11592399" y="17661550"/>
                </a:lnTo>
                <a:lnTo>
                  <a:pt x="0" y="176615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318935">
            <a:off x="-93280" y="162820"/>
            <a:ext cx="1632129" cy="2301720"/>
          </a:xfrm>
          <a:custGeom>
            <a:avLst/>
            <a:gdLst/>
            <a:ahLst/>
            <a:cxnLst/>
            <a:rect r="r" b="b" t="t" l="l"/>
            <a:pathLst>
              <a:path h="2301720" w="1632129">
                <a:moveTo>
                  <a:pt x="0" y="0"/>
                </a:moveTo>
                <a:lnTo>
                  <a:pt x="1632129" y="0"/>
                </a:lnTo>
                <a:lnTo>
                  <a:pt x="1632129" y="2301720"/>
                </a:lnTo>
                <a:lnTo>
                  <a:pt x="0" y="23017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2318935">
            <a:off x="-52794" y="245062"/>
            <a:ext cx="1537093" cy="2167695"/>
          </a:xfrm>
          <a:custGeom>
            <a:avLst/>
            <a:gdLst/>
            <a:ahLst/>
            <a:cxnLst/>
            <a:rect r="r" b="b" t="t" l="l"/>
            <a:pathLst>
              <a:path h="2167695" w="1537093">
                <a:moveTo>
                  <a:pt x="0" y="0"/>
                </a:moveTo>
                <a:lnTo>
                  <a:pt x="1537093" y="0"/>
                </a:lnTo>
                <a:lnTo>
                  <a:pt x="1537093" y="2167695"/>
                </a:lnTo>
                <a:lnTo>
                  <a:pt x="0" y="21676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385659">
            <a:off x="-1629938" y="8807899"/>
            <a:ext cx="3506797" cy="2269854"/>
          </a:xfrm>
          <a:custGeom>
            <a:avLst/>
            <a:gdLst/>
            <a:ahLst/>
            <a:cxnLst/>
            <a:rect r="r" b="b" t="t" l="l"/>
            <a:pathLst>
              <a:path h="2269854" w="3506797">
                <a:moveTo>
                  <a:pt x="0" y="0"/>
                </a:moveTo>
                <a:lnTo>
                  <a:pt x="3506797" y="0"/>
                </a:lnTo>
                <a:lnTo>
                  <a:pt x="3506797" y="2269854"/>
                </a:lnTo>
                <a:lnTo>
                  <a:pt x="0" y="22698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385659">
            <a:off x="-1195776" y="8789720"/>
            <a:ext cx="3169782" cy="2051713"/>
          </a:xfrm>
          <a:custGeom>
            <a:avLst/>
            <a:gdLst/>
            <a:ahLst/>
            <a:cxnLst/>
            <a:rect r="r" b="b" t="t" l="l"/>
            <a:pathLst>
              <a:path h="2051713" w="3169782">
                <a:moveTo>
                  <a:pt x="0" y="0"/>
                </a:moveTo>
                <a:lnTo>
                  <a:pt x="3169782" y="0"/>
                </a:lnTo>
                <a:lnTo>
                  <a:pt x="3169782" y="2051714"/>
                </a:lnTo>
                <a:lnTo>
                  <a:pt x="0" y="20517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16127400" y="7934216"/>
            <a:ext cx="2375102" cy="2715383"/>
            <a:chOff x="0" y="0"/>
            <a:chExt cx="3166803" cy="362051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166803" cy="3620510"/>
            </a:xfrm>
            <a:custGeom>
              <a:avLst/>
              <a:gdLst/>
              <a:ahLst/>
              <a:cxnLst/>
              <a:rect r="r" b="b" t="t" l="l"/>
              <a:pathLst>
                <a:path h="3620510" w="3166803">
                  <a:moveTo>
                    <a:pt x="0" y="0"/>
                  </a:moveTo>
                  <a:lnTo>
                    <a:pt x="3166803" y="0"/>
                  </a:lnTo>
                  <a:lnTo>
                    <a:pt x="3166803" y="3620510"/>
                  </a:lnTo>
                  <a:lnTo>
                    <a:pt x="0" y="36205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91261" y="104336"/>
              <a:ext cx="2984281" cy="3411838"/>
            </a:xfrm>
            <a:custGeom>
              <a:avLst/>
              <a:gdLst/>
              <a:ahLst/>
              <a:cxnLst/>
              <a:rect r="r" b="b" t="t" l="l"/>
              <a:pathLst>
                <a:path h="3411838" w="2984281">
                  <a:moveTo>
                    <a:pt x="0" y="0"/>
                  </a:moveTo>
                  <a:lnTo>
                    <a:pt x="2984281" y="0"/>
                  </a:lnTo>
                  <a:lnTo>
                    <a:pt x="2984281" y="3411838"/>
                  </a:lnTo>
                  <a:lnTo>
                    <a:pt x="0" y="34118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644935" y="3602764"/>
            <a:ext cx="6327354" cy="2499824"/>
          </a:xfrm>
          <a:custGeom>
            <a:avLst/>
            <a:gdLst/>
            <a:ahLst/>
            <a:cxnLst/>
            <a:rect r="r" b="b" t="t" l="l"/>
            <a:pathLst>
              <a:path h="2499824" w="6327354">
                <a:moveTo>
                  <a:pt x="0" y="0"/>
                </a:moveTo>
                <a:lnTo>
                  <a:pt x="6327354" y="0"/>
                </a:lnTo>
                <a:lnTo>
                  <a:pt x="6327354" y="2499823"/>
                </a:lnTo>
                <a:lnTo>
                  <a:pt x="0" y="249982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384889" y="3602764"/>
            <a:ext cx="6440987" cy="2499824"/>
          </a:xfrm>
          <a:custGeom>
            <a:avLst/>
            <a:gdLst/>
            <a:ahLst/>
            <a:cxnLst/>
            <a:rect r="r" b="b" t="t" l="l"/>
            <a:pathLst>
              <a:path h="2499824" w="6440987">
                <a:moveTo>
                  <a:pt x="0" y="0"/>
                </a:moveTo>
                <a:lnTo>
                  <a:pt x="6440987" y="0"/>
                </a:lnTo>
                <a:lnTo>
                  <a:pt x="6440987" y="2499823"/>
                </a:lnTo>
                <a:lnTo>
                  <a:pt x="0" y="2499823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647462" y="4852676"/>
            <a:ext cx="7182838" cy="2172466"/>
          </a:xfrm>
          <a:custGeom>
            <a:avLst/>
            <a:gdLst/>
            <a:ahLst/>
            <a:cxnLst/>
            <a:rect r="r" b="b" t="t" l="l"/>
            <a:pathLst>
              <a:path h="2172466" w="7182838">
                <a:moveTo>
                  <a:pt x="0" y="0"/>
                </a:moveTo>
                <a:lnTo>
                  <a:pt x="7182838" y="0"/>
                </a:lnTo>
                <a:lnTo>
                  <a:pt x="7182838" y="2172466"/>
                </a:lnTo>
                <a:lnTo>
                  <a:pt x="0" y="2172466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7261828">
            <a:off x="2595148" y="5818517"/>
            <a:ext cx="480113" cy="840460"/>
          </a:xfrm>
          <a:custGeom>
            <a:avLst/>
            <a:gdLst/>
            <a:ahLst/>
            <a:cxnLst/>
            <a:rect r="r" b="b" t="t" l="l"/>
            <a:pathLst>
              <a:path h="840460" w="480113">
                <a:moveTo>
                  <a:pt x="0" y="0"/>
                </a:moveTo>
                <a:lnTo>
                  <a:pt x="480113" y="0"/>
                </a:lnTo>
                <a:lnTo>
                  <a:pt x="480113" y="840460"/>
                </a:lnTo>
                <a:lnTo>
                  <a:pt x="0" y="84046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319044" y="115888"/>
            <a:ext cx="11649912" cy="1635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00"/>
              </a:lnSpc>
            </a:pPr>
            <a:r>
              <a:rPr lang="en-US" sz="9500">
                <a:solidFill>
                  <a:srgbClr val="FAF8F4"/>
                </a:solidFill>
                <a:latin typeface="เอฟซี แคนดี้"/>
                <a:ea typeface="เอฟซี แคนดี้"/>
                <a:cs typeface="เอฟซี แคนดี้"/>
                <a:sym typeface="เอฟซี แคนดี้"/>
              </a:rPr>
              <a:t>Uji Validitas Fallacy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02788" y="1854091"/>
            <a:ext cx="14882425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7B5344"/>
                </a:solidFill>
                <a:latin typeface="เอฟซี ฟรายเดย์"/>
                <a:ea typeface="เอฟซี ฟรายเดย์"/>
                <a:cs typeface="เอฟซี ฟรายเดย์"/>
                <a:sym typeface="เอฟซี ฟรายเดย์"/>
              </a:rPr>
              <a:t>Asumsi: Semua lagu bisa diurutkan atau di-shuffle secara bebas tanpa mempengaruhi kualitas playlist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02788" y="2228741"/>
            <a:ext cx="14882425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7B5344"/>
                </a:solidFill>
                <a:latin typeface="เอฟซี ฟรายเดย์"/>
                <a:ea typeface="เอฟซี ฟรายเดย์"/>
                <a:cs typeface="เอฟซี ฟรายเดย์"/>
                <a:sym typeface="เอฟซี ฟรายเดย์"/>
              </a:rPr>
              <a:t>Ini fallacy karena: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7B5344"/>
                </a:solidFill>
                <a:latin typeface="เอฟซี ฟรายเดย์"/>
                <a:ea typeface="เอฟซี ฟรายเดย์"/>
                <a:cs typeface="เอฟซี ฟรายเดย์"/>
                <a:sym typeface="เอฟซี ฟรายเดย์"/>
              </a:rPr>
              <a:t>Menggenerali</a:t>
            </a:r>
            <a:r>
              <a:rPr lang="en-US" sz="2499">
                <a:solidFill>
                  <a:srgbClr val="7B5344"/>
                </a:solidFill>
                <a:latin typeface="เอฟซี ฟรายเดย์"/>
                <a:ea typeface="เอฟซี ฟรายเดย์"/>
                <a:cs typeface="เอฟซี ฟรายเดย์"/>
                <a:sym typeface="เอฟซี ฟรายเดย์"/>
              </a:rPr>
              <a:t>sasi semua lagu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7B5344"/>
                </a:solidFill>
                <a:latin typeface="เอฟซี ฟรายเดย์"/>
                <a:ea typeface="เอฟซี ฟรายเดย์"/>
                <a:cs typeface="เอฟซี ฟรายเดย์"/>
                <a:sym typeface="เอฟซี ฟรายเดย์"/>
              </a:rPr>
              <a:t>Mengabaikan perbedaan atribut (energi, genre, jarak graf)</a:t>
            </a:r>
          </a:p>
          <a:p>
            <a:pPr algn="just">
              <a:lnSpc>
                <a:spcPts val="3499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6564377"/>
            <a:ext cx="6263438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7B5344"/>
                </a:solidFill>
                <a:latin typeface="เอฟซี ฟรายเดย์"/>
                <a:ea typeface="เอฟซี ฟรายเดย์"/>
                <a:cs typeface="เอฟซี ฟรายเดย์"/>
                <a:sym typeface="เอฟซี ฟรายเดย์"/>
              </a:rPr>
              <a:t>Ada lagu tertentu yang TIDAK boleh diperlakukan sama dengan lagu lain.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-8816015">
            <a:off x="8994313" y="5879335"/>
            <a:ext cx="480113" cy="840460"/>
          </a:xfrm>
          <a:custGeom>
            <a:avLst/>
            <a:gdLst/>
            <a:ahLst/>
            <a:cxnLst/>
            <a:rect r="r" b="b" t="t" l="l"/>
            <a:pathLst>
              <a:path h="840460" w="480113">
                <a:moveTo>
                  <a:pt x="0" y="0"/>
                </a:moveTo>
                <a:lnTo>
                  <a:pt x="480113" y="0"/>
                </a:lnTo>
                <a:lnTo>
                  <a:pt x="480113" y="840460"/>
                </a:lnTo>
                <a:lnTo>
                  <a:pt x="0" y="84046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5835871" y="6997045"/>
            <a:ext cx="6263438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7B5344"/>
                </a:solidFill>
                <a:latin typeface="เอฟซี ฟรายเดย์"/>
                <a:ea typeface="เอฟซี ฟรายเดย์"/>
                <a:cs typeface="เอฟซี ฟรายเดย์"/>
                <a:sym typeface="เอฟซี ฟรายเดย์"/>
              </a:rPr>
              <a:t>Hanya sebagian pasangan lagu yang lolos rekomendasi.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-8816015">
            <a:off x="15887344" y="6845627"/>
            <a:ext cx="480113" cy="840460"/>
          </a:xfrm>
          <a:custGeom>
            <a:avLst/>
            <a:gdLst/>
            <a:ahLst/>
            <a:cxnLst/>
            <a:rect r="r" b="b" t="t" l="l"/>
            <a:pathLst>
              <a:path h="840460" w="480113">
                <a:moveTo>
                  <a:pt x="0" y="0"/>
                </a:moveTo>
                <a:lnTo>
                  <a:pt x="480113" y="0"/>
                </a:lnTo>
                <a:lnTo>
                  <a:pt x="480113" y="840461"/>
                </a:lnTo>
                <a:lnTo>
                  <a:pt x="0" y="840461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1221415" y="7758317"/>
            <a:ext cx="6263438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7B5344"/>
                </a:solidFill>
                <a:latin typeface="เอฟซี ฟรายเดย์"/>
                <a:ea typeface="เอฟซี ฟรายเดย์"/>
                <a:cs typeface="เอฟซี ฟรายเดย์"/>
                <a:sym typeface="เอฟซี ฟรายเดย์"/>
              </a:rPr>
              <a:t>Ada pasangan lagu yang SECARA LOGIKA tidak layak disambung langsung.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152568" y="8618808"/>
            <a:ext cx="13086314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7B5344"/>
                </a:solidFill>
                <a:latin typeface="เอฟซี ฟรายเดย์"/>
                <a:ea typeface="เอฟซี ฟรายเดย์"/>
                <a:cs typeface="เอฟซี ฟรายเดย์"/>
                <a:sym typeface="เอฟซี ฟรายเดย์"/>
              </a:rPr>
              <a:t>Salah satu logical fallacy yang berhasil disanggah oleh Knowledge Base adalah generalization, yaitu asumsi bahwa semua lagu dapat diurutkan atau di-shuffle secara bebas tanpa mempengaruhi kualitas </a:t>
            </a:r>
          </a:p>
          <a:p>
            <a:pPr algn="just">
              <a:lnSpc>
                <a:spcPts val="3499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3034575" y="-3614563"/>
            <a:ext cx="11592399" cy="17661550"/>
          </a:xfrm>
          <a:custGeom>
            <a:avLst/>
            <a:gdLst/>
            <a:ahLst/>
            <a:cxnLst/>
            <a:rect r="r" b="b" t="t" l="l"/>
            <a:pathLst>
              <a:path h="17661550" w="11592399">
                <a:moveTo>
                  <a:pt x="0" y="0"/>
                </a:moveTo>
                <a:lnTo>
                  <a:pt x="11592399" y="0"/>
                </a:lnTo>
                <a:lnTo>
                  <a:pt x="11592399" y="17661550"/>
                </a:lnTo>
                <a:lnTo>
                  <a:pt x="0" y="176615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318935">
            <a:off x="-93280" y="162820"/>
            <a:ext cx="1632129" cy="2301720"/>
          </a:xfrm>
          <a:custGeom>
            <a:avLst/>
            <a:gdLst/>
            <a:ahLst/>
            <a:cxnLst/>
            <a:rect r="r" b="b" t="t" l="l"/>
            <a:pathLst>
              <a:path h="2301720" w="1632129">
                <a:moveTo>
                  <a:pt x="0" y="0"/>
                </a:moveTo>
                <a:lnTo>
                  <a:pt x="1632129" y="0"/>
                </a:lnTo>
                <a:lnTo>
                  <a:pt x="1632129" y="2301720"/>
                </a:lnTo>
                <a:lnTo>
                  <a:pt x="0" y="23017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2318935">
            <a:off x="-52794" y="245062"/>
            <a:ext cx="1537093" cy="2167695"/>
          </a:xfrm>
          <a:custGeom>
            <a:avLst/>
            <a:gdLst/>
            <a:ahLst/>
            <a:cxnLst/>
            <a:rect r="r" b="b" t="t" l="l"/>
            <a:pathLst>
              <a:path h="2167695" w="1537093">
                <a:moveTo>
                  <a:pt x="0" y="0"/>
                </a:moveTo>
                <a:lnTo>
                  <a:pt x="1537093" y="0"/>
                </a:lnTo>
                <a:lnTo>
                  <a:pt x="1537093" y="2167695"/>
                </a:lnTo>
                <a:lnTo>
                  <a:pt x="0" y="21676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385659">
            <a:off x="-1629938" y="8807899"/>
            <a:ext cx="3506797" cy="2269854"/>
          </a:xfrm>
          <a:custGeom>
            <a:avLst/>
            <a:gdLst/>
            <a:ahLst/>
            <a:cxnLst/>
            <a:rect r="r" b="b" t="t" l="l"/>
            <a:pathLst>
              <a:path h="2269854" w="3506797">
                <a:moveTo>
                  <a:pt x="0" y="0"/>
                </a:moveTo>
                <a:lnTo>
                  <a:pt x="3506797" y="0"/>
                </a:lnTo>
                <a:lnTo>
                  <a:pt x="3506797" y="2269854"/>
                </a:lnTo>
                <a:lnTo>
                  <a:pt x="0" y="22698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385659">
            <a:off x="-1195776" y="8789720"/>
            <a:ext cx="3169782" cy="2051713"/>
          </a:xfrm>
          <a:custGeom>
            <a:avLst/>
            <a:gdLst/>
            <a:ahLst/>
            <a:cxnLst/>
            <a:rect r="r" b="b" t="t" l="l"/>
            <a:pathLst>
              <a:path h="2051713" w="3169782">
                <a:moveTo>
                  <a:pt x="0" y="0"/>
                </a:moveTo>
                <a:lnTo>
                  <a:pt x="3169782" y="0"/>
                </a:lnTo>
                <a:lnTo>
                  <a:pt x="3169782" y="2051714"/>
                </a:lnTo>
                <a:lnTo>
                  <a:pt x="0" y="20517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16127400" y="7934216"/>
            <a:ext cx="2375102" cy="2715383"/>
            <a:chOff x="0" y="0"/>
            <a:chExt cx="3166803" cy="362051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166803" cy="3620510"/>
            </a:xfrm>
            <a:custGeom>
              <a:avLst/>
              <a:gdLst/>
              <a:ahLst/>
              <a:cxnLst/>
              <a:rect r="r" b="b" t="t" l="l"/>
              <a:pathLst>
                <a:path h="3620510" w="3166803">
                  <a:moveTo>
                    <a:pt x="0" y="0"/>
                  </a:moveTo>
                  <a:lnTo>
                    <a:pt x="3166803" y="0"/>
                  </a:lnTo>
                  <a:lnTo>
                    <a:pt x="3166803" y="3620510"/>
                  </a:lnTo>
                  <a:lnTo>
                    <a:pt x="0" y="36205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91261" y="104336"/>
              <a:ext cx="2984281" cy="3411838"/>
            </a:xfrm>
            <a:custGeom>
              <a:avLst/>
              <a:gdLst/>
              <a:ahLst/>
              <a:cxnLst/>
              <a:rect r="r" b="b" t="t" l="l"/>
              <a:pathLst>
                <a:path h="3411838" w="2984281">
                  <a:moveTo>
                    <a:pt x="0" y="0"/>
                  </a:moveTo>
                  <a:lnTo>
                    <a:pt x="2984281" y="0"/>
                  </a:lnTo>
                  <a:lnTo>
                    <a:pt x="2984281" y="3411838"/>
                  </a:lnTo>
                  <a:lnTo>
                    <a:pt x="0" y="34118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2893579" y="2280437"/>
            <a:ext cx="11544481" cy="1635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00"/>
              </a:lnSpc>
            </a:pPr>
            <a:r>
              <a:rPr lang="en-US" sz="9500">
                <a:solidFill>
                  <a:srgbClr val="FAF8F4"/>
                </a:solidFill>
                <a:latin typeface="เอฟซี แคนดี้"/>
                <a:ea typeface="เอฟซี แคนดี้"/>
                <a:cs typeface="เอฟซี แคนดี้"/>
                <a:sym typeface="เอฟซี แคนดี้"/>
              </a:rPr>
              <a:t>Kesimpulan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03210" y="4324037"/>
            <a:ext cx="13086314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7B5344"/>
                </a:solidFill>
                <a:latin typeface="เอฟซี ฟรายเดย์"/>
                <a:ea typeface="เอฟซี ฟรายเดย์"/>
                <a:cs typeface="เอฟซี ฟรายเดย์"/>
                <a:sym typeface="เอฟซี ฟรายเดย์"/>
              </a:rPr>
              <a:t>First Order Logic (FOL) mampu memformalkan kualitas transisi playlist secara objektif.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7B5344"/>
                </a:solidFill>
                <a:latin typeface="เอฟซี ฟรายเดย์"/>
                <a:ea typeface="เอฟซี ฟรายเดย์"/>
                <a:cs typeface="เอฟซี ฟรายเดย์"/>
                <a:sym typeface="เอฟซี ฟรายเดย์"/>
              </a:rPr>
              <a:t>Knowledge Base berhasil menyaring urutan lagu yang tidak valid secara logika.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7B5344"/>
                </a:solidFill>
                <a:latin typeface="เอฟซี ฟรายเดย์"/>
                <a:ea typeface="เอฟซี ฟรายเดย์"/>
                <a:cs typeface="เอฟซี ฟรายเดย์"/>
                <a:sym typeface="เอฟซี ฟรายเดย์"/>
              </a:rPr>
              <a:t>Sistem inferensi Prolog menghasilkan keputusan yang transparan dan dapat dijelaskan.</a:t>
            </a:r>
          </a:p>
          <a:p>
            <a:pPr algn="just">
              <a:lnSpc>
                <a:spcPts val="3499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28399" y="7038641"/>
            <a:ext cx="12064451" cy="2343925"/>
            <a:chOff x="0" y="0"/>
            <a:chExt cx="4060737" cy="7889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60737" cy="788935"/>
            </a:xfrm>
            <a:custGeom>
              <a:avLst/>
              <a:gdLst/>
              <a:ahLst/>
              <a:cxnLst/>
              <a:rect r="r" b="b" t="t" l="l"/>
              <a:pathLst>
                <a:path h="788935" w="4060737">
                  <a:moveTo>
                    <a:pt x="18610" y="0"/>
                  </a:moveTo>
                  <a:lnTo>
                    <a:pt x="4042127" y="0"/>
                  </a:lnTo>
                  <a:cubicBezTo>
                    <a:pt x="4052405" y="0"/>
                    <a:pt x="4060737" y="8332"/>
                    <a:pt x="4060737" y="18610"/>
                  </a:cubicBezTo>
                  <a:lnTo>
                    <a:pt x="4060737" y="770325"/>
                  </a:lnTo>
                  <a:cubicBezTo>
                    <a:pt x="4060737" y="775261"/>
                    <a:pt x="4058776" y="779994"/>
                    <a:pt x="4055286" y="783484"/>
                  </a:cubicBezTo>
                  <a:cubicBezTo>
                    <a:pt x="4051796" y="786974"/>
                    <a:pt x="4047063" y="788935"/>
                    <a:pt x="4042127" y="788935"/>
                  </a:cubicBezTo>
                  <a:lnTo>
                    <a:pt x="18610" y="788935"/>
                  </a:lnTo>
                  <a:cubicBezTo>
                    <a:pt x="13674" y="788935"/>
                    <a:pt x="8941" y="786974"/>
                    <a:pt x="5451" y="783484"/>
                  </a:cubicBezTo>
                  <a:cubicBezTo>
                    <a:pt x="1961" y="779994"/>
                    <a:pt x="0" y="775261"/>
                    <a:pt x="0" y="770325"/>
                  </a:cubicBezTo>
                  <a:lnTo>
                    <a:pt x="0" y="18610"/>
                  </a:lnTo>
                  <a:cubicBezTo>
                    <a:pt x="0" y="13674"/>
                    <a:pt x="1961" y="8941"/>
                    <a:pt x="5451" y="5451"/>
                  </a:cubicBezTo>
                  <a:cubicBezTo>
                    <a:pt x="8941" y="1961"/>
                    <a:pt x="13674" y="0"/>
                    <a:pt x="18610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A48C7E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060737" cy="8365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5400000">
            <a:off x="3034575" y="-3614563"/>
            <a:ext cx="11592399" cy="17661550"/>
          </a:xfrm>
          <a:custGeom>
            <a:avLst/>
            <a:gdLst/>
            <a:ahLst/>
            <a:cxnLst/>
            <a:rect r="r" b="b" t="t" l="l"/>
            <a:pathLst>
              <a:path h="17661550" w="11592399">
                <a:moveTo>
                  <a:pt x="0" y="0"/>
                </a:moveTo>
                <a:lnTo>
                  <a:pt x="11592399" y="0"/>
                </a:lnTo>
                <a:lnTo>
                  <a:pt x="11592399" y="17661550"/>
                </a:lnTo>
                <a:lnTo>
                  <a:pt x="0" y="176615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318935">
            <a:off x="-93280" y="162820"/>
            <a:ext cx="1632129" cy="2301720"/>
          </a:xfrm>
          <a:custGeom>
            <a:avLst/>
            <a:gdLst/>
            <a:ahLst/>
            <a:cxnLst/>
            <a:rect r="r" b="b" t="t" l="l"/>
            <a:pathLst>
              <a:path h="2301720" w="1632129">
                <a:moveTo>
                  <a:pt x="0" y="0"/>
                </a:moveTo>
                <a:lnTo>
                  <a:pt x="1632129" y="0"/>
                </a:lnTo>
                <a:lnTo>
                  <a:pt x="1632129" y="2301720"/>
                </a:lnTo>
                <a:lnTo>
                  <a:pt x="0" y="23017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-2318935">
            <a:off x="-52794" y="245062"/>
            <a:ext cx="1537093" cy="2167695"/>
          </a:xfrm>
          <a:custGeom>
            <a:avLst/>
            <a:gdLst/>
            <a:ahLst/>
            <a:cxnLst/>
            <a:rect r="r" b="b" t="t" l="l"/>
            <a:pathLst>
              <a:path h="2167695" w="1537093">
                <a:moveTo>
                  <a:pt x="0" y="0"/>
                </a:moveTo>
                <a:lnTo>
                  <a:pt x="1537093" y="0"/>
                </a:lnTo>
                <a:lnTo>
                  <a:pt x="1537093" y="2167695"/>
                </a:lnTo>
                <a:lnTo>
                  <a:pt x="0" y="21676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385659">
            <a:off x="-1629938" y="8807899"/>
            <a:ext cx="3506797" cy="2269854"/>
          </a:xfrm>
          <a:custGeom>
            <a:avLst/>
            <a:gdLst/>
            <a:ahLst/>
            <a:cxnLst/>
            <a:rect r="r" b="b" t="t" l="l"/>
            <a:pathLst>
              <a:path h="2269854" w="3506797">
                <a:moveTo>
                  <a:pt x="0" y="0"/>
                </a:moveTo>
                <a:lnTo>
                  <a:pt x="3506797" y="0"/>
                </a:lnTo>
                <a:lnTo>
                  <a:pt x="3506797" y="2269854"/>
                </a:lnTo>
                <a:lnTo>
                  <a:pt x="0" y="22698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385659">
            <a:off x="-1195776" y="8789720"/>
            <a:ext cx="3169782" cy="2051713"/>
          </a:xfrm>
          <a:custGeom>
            <a:avLst/>
            <a:gdLst/>
            <a:ahLst/>
            <a:cxnLst/>
            <a:rect r="r" b="b" t="t" l="l"/>
            <a:pathLst>
              <a:path h="2051713" w="3169782">
                <a:moveTo>
                  <a:pt x="0" y="0"/>
                </a:moveTo>
                <a:lnTo>
                  <a:pt x="3169782" y="0"/>
                </a:lnTo>
                <a:lnTo>
                  <a:pt x="3169782" y="2051714"/>
                </a:lnTo>
                <a:lnTo>
                  <a:pt x="0" y="20517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0" id="10"/>
          <p:cNvGrpSpPr/>
          <p:nvPr/>
        </p:nvGrpSpPr>
        <p:grpSpPr>
          <a:xfrm rot="0">
            <a:off x="16127400" y="7934216"/>
            <a:ext cx="2375102" cy="2715383"/>
            <a:chOff x="0" y="0"/>
            <a:chExt cx="3166803" cy="362051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166803" cy="3620510"/>
            </a:xfrm>
            <a:custGeom>
              <a:avLst/>
              <a:gdLst/>
              <a:ahLst/>
              <a:cxnLst/>
              <a:rect r="r" b="b" t="t" l="l"/>
              <a:pathLst>
                <a:path h="3620510" w="3166803">
                  <a:moveTo>
                    <a:pt x="0" y="0"/>
                  </a:moveTo>
                  <a:lnTo>
                    <a:pt x="3166803" y="0"/>
                  </a:lnTo>
                  <a:lnTo>
                    <a:pt x="3166803" y="3620510"/>
                  </a:lnTo>
                  <a:lnTo>
                    <a:pt x="0" y="36205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91261" y="104336"/>
              <a:ext cx="2984281" cy="3411838"/>
            </a:xfrm>
            <a:custGeom>
              <a:avLst/>
              <a:gdLst/>
              <a:ahLst/>
              <a:cxnLst/>
              <a:rect r="r" b="b" t="t" l="l"/>
              <a:pathLst>
                <a:path h="3411838" w="2984281">
                  <a:moveTo>
                    <a:pt x="0" y="0"/>
                  </a:moveTo>
                  <a:lnTo>
                    <a:pt x="2984281" y="0"/>
                  </a:lnTo>
                  <a:lnTo>
                    <a:pt x="2984281" y="3411838"/>
                  </a:lnTo>
                  <a:lnTo>
                    <a:pt x="0" y="34118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2803210" y="714037"/>
            <a:ext cx="11544481" cy="1635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00"/>
              </a:lnSpc>
            </a:pPr>
            <a:r>
              <a:rPr lang="en-US" sz="9500">
                <a:solidFill>
                  <a:srgbClr val="FAF8F4"/>
                </a:solidFill>
                <a:latin typeface="เอฟซี แคนดี้"/>
                <a:ea typeface="เอฟซี แคนดี้"/>
                <a:cs typeface="เอฟซี แคนดี้"/>
                <a:sym typeface="เอฟซี แคนดี้"/>
              </a:rPr>
              <a:t>Rekomendasi Kebijakan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465524" y="2332541"/>
            <a:ext cx="12064451" cy="2343925"/>
            <a:chOff x="0" y="0"/>
            <a:chExt cx="4060737" cy="78893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060737" cy="788935"/>
            </a:xfrm>
            <a:custGeom>
              <a:avLst/>
              <a:gdLst/>
              <a:ahLst/>
              <a:cxnLst/>
              <a:rect r="r" b="b" t="t" l="l"/>
              <a:pathLst>
                <a:path h="788935" w="4060737">
                  <a:moveTo>
                    <a:pt x="18610" y="0"/>
                  </a:moveTo>
                  <a:lnTo>
                    <a:pt x="4042127" y="0"/>
                  </a:lnTo>
                  <a:cubicBezTo>
                    <a:pt x="4052405" y="0"/>
                    <a:pt x="4060737" y="8332"/>
                    <a:pt x="4060737" y="18610"/>
                  </a:cubicBezTo>
                  <a:lnTo>
                    <a:pt x="4060737" y="770325"/>
                  </a:lnTo>
                  <a:cubicBezTo>
                    <a:pt x="4060737" y="775261"/>
                    <a:pt x="4058776" y="779994"/>
                    <a:pt x="4055286" y="783484"/>
                  </a:cubicBezTo>
                  <a:cubicBezTo>
                    <a:pt x="4051796" y="786974"/>
                    <a:pt x="4047063" y="788935"/>
                    <a:pt x="4042127" y="788935"/>
                  </a:cubicBezTo>
                  <a:lnTo>
                    <a:pt x="18610" y="788935"/>
                  </a:lnTo>
                  <a:cubicBezTo>
                    <a:pt x="13674" y="788935"/>
                    <a:pt x="8941" y="786974"/>
                    <a:pt x="5451" y="783484"/>
                  </a:cubicBezTo>
                  <a:cubicBezTo>
                    <a:pt x="1961" y="779994"/>
                    <a:pt x="0" y="775261"/>
                    <a:pt x="0" y="770325"/>
                  </a:cubicBezTo>
                  <a:lnTo>
                    <a:pt x="0" y="18610"/>
                  </a:lnTo>
                  <a:cubicBezTo>
                    <a:pt x="0" y="13674"/>
                    <a:pt x="1961" y="8941"/>
                    <a:pt x="5451" y="5451"/>
                  </a:cubicBezTo>
                  <a:cubicBezTo>
                    <a:pt x="8941" y="1961"/>
                    <a:pt x="13674" y="0"/>
                    <a:pt x="18610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A48C7E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4060737" cy="8365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763964" y="2501591"/>
            <a:ext cx="13086314" cy="21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7B5344"/>
                </a:solidFill>
                <a:latin typeface="เอฟซี ฟรายเดย์"/>
                <a:ea typeface="เอฟซี ฟรายเดย์"/>
                <a:cs typeface="เอฟซี ฟรายเดย์"/>
                <a:sym typeface="เอฟซี ฟรายเดย์"/>
              </a:rPr>
              <a:t>Larangan Shuffle Bebas pada Lagu Ekstrem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7B5344"/>
                </a:solidFill>
                <a:latin typeface="เอฟซี ฟรายเดย์"/>
                <a:ea typeface="เอฟซี ฟรายเดย์"/>
                <a:cs typeface="เอฟซี ฟรายเดย์"/>
                <a:sym typeface="เอฟซี ฟรายเดย์"/>
              </a:rPr>
              <a:t>Lagu dengan energi ekstrem ditandai sebagai outlier.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7B5344"/>
                </a:solidFill>
                <a:latin typeface="เอฟซี ฟรายเดย์"/>
                <a:ea typeface="เอฟซี ฟรายเดย์"/>
                <a:cs typeface="เอฟซี ฟรายเดย์"/>
                <a:sym typeface="เอฟซี ฟรายเดย์"/>
              </a:rPr>
              <a:t>Sistem menonaktifkan auto-shuffle untuk lagu tersebut.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7B5344"/>
                </a:solidFill>
                <a:latin typeface="เอฟซี ฟรายเดย์"/>
                <a:ea typeface="เอฟซี ฟรายเดย์"/>
                <a:cs typeface="เอฟซี ฟรายเดย์"/>
                <a:sym typeface="เอฟซี ฟรายเดย์"/>
              </a:rPr>
              <a:t>(Mengatasi fallacy: “semua lagu bisa diperlakukan sama”)</a:t>
            </a:r>
          </a:p>
          <a:p>
            <a:pPr algn="just">
              <a:lnSpc>
                <a:spcPts val="3499"/>
              </a:lnSpc>
            </a:pPr>
          </a:p>
        </p:txBody>
      </p:sp>
      <p:grpSp>
        <p:nvGrpSpPr>
          <p:cNvPr name="Group 18" id="18"/>
          <p:cNvGrpSpPr/>
          <p:nvPr/>
        </p:nvGrpSpPr>
        <p:grpSpPr>
          <a:xfrm rot="0">
            <a:off x="1528399" y="4676466"/>
            <a:ext cx="12064451" cy="2343925"/>
            <a:chOff x="0" y="0"/>
            <a:chExt cx="4060737" cy="7889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060737" cy="788935"/>
            </a:xfrm>
            <a:custGeom>
              <a:avLst/>
              <a:gdLst/>
              <a:ahLst/>
              <a:cxnLst/>
              <a:rect r="r" b="b" t="t" l="l"/>
              <a:pathLst>
                <a:path h="788935" w="4060737">
                  <a:moveTo>
                    <a:pt x="18610" y="0"/>
                  </a:moveTo>
                  <a:lnTo>
                    <a:pt x="4042127" y="0"/>
                  </a:lnTo>
                  <a:cubicBezTo>
                    <a:pt x="4052405" y="0"/>
                    <a:pt x="4060737" y="8332"/>
                    <a:pt x="4060737" y="18610"/>
                  </a:cubicBezTo>
                  <a:lnTo>
                    <a:pt x="4060737" y="770325"/>
                  </a:lnTo>
                  <a:cubicBezTo>
                    <a:pt x="4060737" y="775261"/>
                    <a:pt x="4058776" y="779994"/>
                    <a:pt x="4055286" y="783484"/>
                  </a:cubicBezTo>
                  <a:cubicBezTo>
                    <a:pt x="4051796" y="786974"/>
                    <a:pt x="4047063" y="788935"/>
                    <a:pt x="4042127" y="788935"/>
                  </a:cubicBezTo>
                  <a:lnTo>
                    <a:pt x="18610" y="788935"/>
                  </a:lnTo>
                  <a:cubicBezTo>
                    <a:pt x="13674" y="788935"/>
                    <a:pt x="8941" y="786974"/>
                    <a:pt x="5451" y="783484"/>
                  </a:cubicBezTo>
                  <a:cubicBezTo>
                    <a:pt x="1961" y="779994"/>
                    <a:pt x="0" y="775261"/>
                    <a:pt x="0" y="770325"/>
                  </a:cubicBezTo>
                  <a:lnTo>
                    <a:pt x="0" y="18610"/>
                  </a:lnTo>
                  <a:cubicBezTo>
                    <a:pt x="0" y="13674"/>
                    <a:pt x="1961" y="8941"/>
                    <a:pt x="5451" y="5451"/>
                  </a:cubicBezTo>
                  <a:cubicBezTo>
                    <a:pt x="8941" y="1961"/>
                    <a:pt x="13674" y="0"/>
                    <a:pt x="18610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A48C7E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4060737" cy="8365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763964" y="4762191"/>
            <a:ext cx="13086314" cy="21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7B5344"/>
                </a:solidFill>
                <a:latin typeface="เอฟซี ฟรายเดย์"/>
                <a:ea typeface="เอฟซี ฟรายเดย์"/>
                <a:cs typeface="เอฟซี ฟรายเดย์"/>
                <a:sym typeface="เอฟซี ฟรายเดย์"/>
              </a:rPr>
              <a:t>Penerapan Lagu Bridge pada Transisi Kasar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7B5344"/>
                </a:solidFill>
                <a:latin typeface="เอฟซี ฟรายเดย์"/>
                <a:ea typeface="เอฟซี ฟรายเดย์"/>
                <a:cs typeface="เอฟซี ฟรายเดย์"/>
                <a:sym typeface="เอฟซี ฟรายเดย์"/>
              </a:rPr>
              <a:t>Jika terdeteksi transisi_kasar(X,Y), sistem wajib menyisipkan lagu bridge.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7B5344"/>
                </a:solidFill>
                <a:latin typeface="เอฟซี ฟรายเดย์"/>
                <a:ea typeface="เอฟซี ฟรายเดย์"/>
                <a:cs typeface="เอฟซี ฟรายเดย์"/>
                <a:sym typeface="เอฟซี ฟรายเดย์"/>
              </a:rPr>
              <a:t>Mencegah lonjakan energi yang mengganggu.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7B5344"/>
                </a:solidFill>
                <a:latin typeface="เอฟซี ฟรายเดย์"/>
                <a:ea typeface="เอฟซี ฟรายเดย์"/>
                <a:cs typeface="เอฟซี ฟรายเดย์"/>
                <a:sym typeface="เอฟซี ฟรายเดย์"/>
              </a:rPr>
              <a:t>(Berbasis rule: butuh_lagu_bridge(X,Y))</a:t>
            </a:r>
          </a:p>
          <a:p>
            <a:pPr algn="just">
              <a:lnSpc>
                <a:spcPts val="3499"/>
              </a:lnSpc>
            </a:pPr>
          </a:p>
        </p:txBody>
      </p:sp>
      <p:grpSp>
        <p:nvGrpSpPr>
          <p:cNvPr name="Group 22" id="22"/>
          <p:cNvGrpSpPr/>
          <p:nvPr/>
        </p:nvGrpSpPr>
        <p:grpSpPr>
          <a:xfrm rot="0">
            <a:off x="1528399" y="7038641"/>
            <a:ext cx="12064451" cy="2343925"/>
            <a:chOff x="0" y="0"/>
            <a:chExt cx="4060737" cy="78893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060737" cy="788935"/>
            </a:xfrm>
            <a:custGeom>
              <a:avLst/>
              <a:gdLst/>
              <a:ahLst/>
              <a:cxnLst/>
              <a:rect r="r" b="b" t="t" l="l"/>
              <a:pathLst>
                <a:path h="788935" w="4060737">
                  <a:moveTo>
                    <a:pt x="18610" y="0"/>
                  </a:moveTo>
                  <a:lnTo>
                    <a:pt x="4042127" y="0"/>
                  </a:lnTo>
                  <a:cubicBezTo>
                    <a:pt x="4052405" y="0"/>
                    <a:pt x="4060737" y="8332"/>
                    <a:pt x="4060737" y="18610"/>
                  </a:cubicBezTo>
                  <a:lnTo>
                    <a:pt x="4060737" y="770325"/>
                  </a:lnTo>
                  <a:cubicBezTo>
                    <a:pt x="4060737" y="775261"/>
                    <a:pt x="4058776" y="779994"/>
                    <a:pt x="4055286" y="783484"/>
                  </a:cubicBezTo>
                  <a:cubicBezTo>
                    <a:pt x="4051796" y="786974"/>
                    <a:pt x="4047063" y="788935"/>
                    <a:pt x="4042127" y="788935"/>
                  </a:cubicBezTo>
                  <a:lnTo>
                    <a:pt x="18610" y="788935"/>
                  </a:lnTo>
                  <a:cubicBezTo>
                    <a:pt x="13674" y="788935"/>
                    <a:pt x="8941" y="786974"/>
                    <a:pt x="5451" y="783484"/>
                  </a:cubicBezTo>
                  <a:cubicBezTo>
                    <a:pt x="1961" y="779994"/>
                    <a:pt x="0" y="775261"/>
                    <a:pt x="0" y="770325"/>
                  </a:cubicBezTo>
                  <a:lnTo>
                    <a:pt x="0" y="18610"/>
                  </a:lnTo>
                  <a:cubicBezTo>
                    <a:pt x="0" y="13674"/>
                    <a:pt x="1961" y="8941"/>
                    <a:pt x="5451" y="5451"/>
                  </a:cubicBezTo>
                  <a:cubicBezTo>
                    <a:pt x="8941" y="1961"/>
                    <a:pt x="13674" y="0"/>
                    <a:pt x="18610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A48C7E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4060737" cy="8365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643472" y="7099354"/>
            <a:ext cx="13086314" cy="21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7B5344"/>
                </a:solidFill>
                <a:latin typeface="เอฟซี ฟรายเดย์"/>
                <a:ea typeface="เอฟซี ฟรายเดย์"/>
                <a:cs typeface="เอฟซี ฟรายเดย์"/>
                <a:sym typeface="เอฟซี ฟรายเดย์"/>
              </a:rPr>
              <a:t>Rekomendasi Urutan Playlist Berbasis Bobot Graf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7B5344"/>
                </a:solidFill>
                <a:latin typeface="เอฟซี ฟรายเดย์"/>
                <a:ea typeface="เอฟซี ฟรายเดย์"/>
                <a:cs typeface="เอฟซี ฟรายเดย์"/>
                <a:sym typeface="เอฟซี ฟรายเดย์"/>
              </a:rPr>
              <a:t>Hanya pasangan lagu dengan jarak_graf ≤ 0.4 yang direkomendasikan.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7B5344"/>
                </a:solidFill>
                <a:latin typeface="เอฟซี ฟรายเดย์"/>
                <a:ea typeface="เอฟซี ฟรายเดย์"/>
                <a:cs typeface="เอฟซี ฟรายเดย์"/>
                <a:sym typeface="เอฟซี ฟรายเดย์"/>
              </a:rPr>
              <a:t>Menghasilkan playlist yang lebih konsisten dan harmonis.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7B5344"/>
                </a:solidFill>
                <a:latin typeface="เอฟซี ฟรายเดย์"/>
                <a:ea typeface="เอฟซี ฟรายเดย์"/>
                <a:cs typeface="เอฟซี ฟรายเดย์"/>
                <a:sym typeface="เอฟซี ฟรายเดย์"/>
              </a:rPr>
              <a:t>(Berbasis rule: rekomendasi_urutan(X,Y))</a:t>
            </a:r>
          </a:p>
          <a:p>
            <a:pPr algn="just">
              <a:lnSpc>
                <a:spcPts val="3499"/>
              </a:lnSpc>
            </a:pPr>
          </a:p>
        </p:txBody>
      </p:sp>
      <p:grpSp>
        <p:nvGrpSpPr>
          <p:cNvPr name="Group 26" id="26"/>
          <p:cNvGrpSpPr/>
          <p:nvPr/>
        </p:nvGrpSpPr>
        <p:grpSpPr>
          <a:xfrm rot="0">
            <a:off x="13040627" y="2886983"/>
            <a:ext cx="972405" cy="972405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48C7E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962846" y="2792835"/>
            <a:ext cx="972405" cy="972405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8DDCD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2819044" y="2396816"/>
            <a:ext cx="1421860" cy="136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FFFFFF"/>
                </a:solidFill>
                <a:latin typeface="เอฟซี แคนดี้"/>
                <a:ea typeface="เอฟซี แคนดี้"/>
                <a:cs typeface="เอฟซี แคนดี้"/>
                <a:sym typeface="เอฟซี แคนดี้"/>
              </a:rPr>
              <a:t>1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3184429" y="5553979"/>
            <a:ext cx="972405" cy="972405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48C7E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3106647" y="5459831"/>
            <a:ext cx="972405" cy="972405"/>
            <a:chOff x="0" y="0"/>
            <a:chExt cx="8128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8DDCD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2962846" y="5063812"/>
            <a:ext cx="1421860" cy="136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FFFFFF"/>
                </a:solidFill>
                <a:latin typeface="เอฟซี แคนดี้"/>
                <a:ea typeface="เอฟซี แคนดี้"/>
                <a:cs typeface="เอฟซี แคนดี้"/>
                <a:sym typeface="เอฟซี แคนดี้"/>
              </a:rPr>
              <a:t>2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3267984" y="7332347"/>
            <a:ext cx="972405" cy="972405"/>
            <a:chOff x="0" y="0"/>
            <a:chExt cx="812800" cy="812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48C7E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3190202" y="7238199"/>
            <a:ext cx="972405" cy="972405"/>
            <a:chOff x="0" y="0"/>
            <a:chExt cx="812800" cy="8128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8DDCD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12965475" y="6886241"/>
            <a:ext cx="1421860" cy="136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FFFFFF"/>
                </a:solidFill>
                <a:latin typeface="เอฟซี แคนดี้"/>
                <a:ea typeface="เอฟซี แคนดี้"/>
                <a:cs typeface="เอฟซี แคนดี้"/>
                <a:sym typeface="เอฟซี แคนดี้"/>
              </a:rPr>
              <a:t>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2672286" y="-5894890"/>
            <a:ext cx="12943428" cy="19719904"/>
          </a:xfrm>
          <a:custGeom>
            <a:avLst/>
            <a:gdLst/>
            <a:ahLst/>
            <a:cxnLst/>
            <a:rect r="r" b="b" t="t" l="l"/>
            <a:pathLst>
              <a:path h="19719904" w="12943428">
                <a:moveTo>
                  <a:pt x="0" y="0"/>
                </a:moveTo>
                <a:lnTo>
                  <a:pt x="12943428" y="0"/>
                </a:lnTo>
                <a:lnTo>
                  <a:pt x="12943428" y="19719904"/>
                </a:lnTo>
                <a:lnTo>
                  <a:pt x="0" y="197199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560826" y="2329400"/>
            <a:ext cx="13166347" cy="6431503"/>
            <a:chOff x="0" y="0"/>
            <a:chExt cx="3467680" cy="169389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467680" cy="1693894"/>
            </a:xfrm>
            <a:custGeom>
              <a:avLst/>
              <a:gdLst/>
              <a:ahLst/>
              <a:cxnLst/>
              <a:rect r="r" b="b" t="t" l="l"/>
              <a:pathLst>
                <a:path h="1693894" w="3467680">
                  <a:moveTo>
                    <a:pt x="0" y="0"/>
                  </a:moveTo>
                  <a:lnTo>
                    <a:pt x="3467680" y="0"/>
                  </a:lnTo>
                  <a:lnTo>
                    <a:pt x="3467680" y="1693894"/>
                  </a:lnTo>
                  <a:lnTo>
                    <a:pt x="0" y="169389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3467680" cy="17415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1803284">
            <a:off x="15751225" y="7951694"/>
            <a:ext cx="4565737" cy="4114800"/>
          </a:xfrm>
          <a:custGeom>
            <a:avLst/>
            <a:gdLst/>
            <a:ahLst/>
            <a:cxnLst/>
            <a:rect r="r" b="b" t="t" l="l"/>
            <a:pathLst>
              <a:path h="4114800" w="4565737">
                <a:moveTo>
                  <a:pt x="0" y="0"/>
                </a:moveTo>
                <a:lnTo>
                  <a:pt x="4565737" y="0"/>
                </a:lnTo>
                <a:lnTo>
                  <a:pt x="45657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6581405">
            <a:off x="15536892" y="-1615299"/>
            <a:ext cx="4565737" cy="4114800"/>
          </a:xfrm>
          <a:custGeom>
            <a:avLst/>
            <a:gdLst/>
            <a:ahLst/>
            <a:cxnLst/>
            <a:rect r="r" b="b" t="t" l="l"/>
            <a:pathLst>
              <a:path h="4114800" w="4565737">
                <a:moveTo>
                  <a:pt x="0" y="0"/>
                </a:moveTo>
                <a:lnTo>
                  <a:pt x="4565737" y="0"/>
                </a:lnTo>
                <a:lnTo>
                  <a:pt x="45657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743200" y="1675430"/>
            <a:ext cx="12801600" cy="6936140"/>
          </a:xfrm>
          <a:custGeom>
            <a:avLst/>
            <a:gdLst/>
            <a:ahLst/>
            <a:cxnLst/>
            <a:rect r="r" b="b" t="t" l="l"/>
            <a:pathLst>
              <a:path h="6936140" w="12801600">
                <a:moveTo>
                  <a:pt x="0" y="0"/>
                </a:moveTo>
                <a:lnTo>
                  <a:pt x="12801600" y="0"/>
                </a:lnTo>
                <a:lnTo>
                  <a:pt x="12801600" y="6936140"/>
                </a:lnTo>
                <a:lnTo>
                  <a:pt x="0" y="69361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135644">
            <a:off x="1568776" y="1724388"/>
            <a:ext cx="2620098" cy="1267175"/>
          </a:xfrm>
          <a:custGeom>
            <a:avLst/>
            <a:gdLst/>
            <a:ahLst/>
            <a:cxnLst/>
            <a:rect r="r" b="b" t="t" l="l"/>
            <a:pathLst>
              <a:path h="1267175" w="2620098">
                <a:moveTo>
                  <a:pt x="0" y="0"/>
                </a:moveTo>
                <a:lnTo>
                  <a:pt x="2620098" y="0"/>
                </a:lnTo>
                <a:lnTo>
                  <a:pt x="2620098" y="1267175"/>
                </a:lnTo>
                <a:lnTo>
                  <a:pt x="0" y="12671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-1135644">
            <a:off x="1699728" y="1787721"/>
            <a:ext cx="2358195" cy="1140509"/>
          </a:xfrm>
          <a:custGeom>
            <a:avLst/>
            <a:gdLst/>
            <a:ahLst/>
            <a:cxnLst/>
            <a:rect r="r" b="b" t="t" l="l"/>
            <a:pathLst>
              <a:path h="1140509" w="2358195">
                <a:moveTo>
                  <a:pt x="0" y="0"/>
                </a:moveTo>
                <a:lnTo>
                  <a:pt x="2358195" y="0"/>
                </a:lnTo>
                <a:lnTo>
                  <a:pt x="2358195" y="1140509"/>
                </a:lnTo>
                <a:lnTo>
                  <a:pt x="0" y="114050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385659">
            <a:off x="2064861" y="7094673"/>
            <a:ext cx="3506797" cy="2269854"/>
          </a:xfrm>
          <a:custGeom>
            <a:avLst/>
            <a:gdLst/>
            <a:ahLst/>
            <a:cxnLst/>
            <a:rect r="r" b="b" t="t" l="l"/>
            <a:pathLst>
              <a:path h="2269854" w="3506797">
                <a:moveTo>
                  <a:pt x="0" y="0"/>
                </a:moveTo>
                <a:lnTo>
                  <a:pt x="3506797" y="0"/>
                </a:lnTo>
                <a:lnTo>
                  <a:pt x="3506797" y="2269854"/>
                </a:lnTo>
                <a:lnTo>
                  <a:pt x="0" y="226985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385659">
            <a:off x="2233368" y="7203743"/>
            <a:ext cx="3169782" cy="2051713"/>
          </a:xfrm>
          <a:custGeom>
            <a:avLst/>
            <a:gdLst/>
            <a:ahLst/>
            <a:cxnLst/>
            <a:rect r="r" b="b" t="t" l="l"/>
            <a:pathLst>
              <a:path h="2051713" w="3169782">
                <a:moveTo>
                  <a:pt x="0" y="0"/>
                </a:moveTo>
                <a:lnTo>
                  <a:pt x="3169782" y="0"/>
                </a:lnTo>
                <a:lnTo>
                  <a:pt x="3169782" y="2051714"/>
                </a:lnTo>
                <a:lnTo>
                  <a:pt x="0" y="205171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-571104">
            <a:off x="13291806" y="1185241"/>
            <a:ext cx="2877205" cy="2055894"/>
          </a:xfrm>
          <a:custGeom>
            <a:avLst/>
            <a:gdLst/>
            <a:ahLst/>
            <a:cxnLst/>
            <a:rect r="r" b="b" t="t" l="l"/>
            <a:pathLst>
              <a:path h="2055894" w="2877205">
                <a:moveTo>
                  <a:pt x="0" y="0"/>
                </a:moveTo>
                <a:lnTo>
                  <a:pt x="2877205" y="0"/>
                </a:lnTo>
                <a:lnTo>
                  <a:pt x="2877205" y="2055894"/>
                </a:lnTo>
                <a:lnTo>
                  <a:pt x="0" y="205589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-571104">
            <a:off x="13417599" y="1275126"/>
            <a:ext cx="2625618" cy="1876124"/>
          </a:xfrm>
          <a:custGeom>
            <a:avLst/>
            <a:gdLst/>
            <a:ahLst/>
            <a:cxnLst/>
            <a:rect r="r" b="b" t="t" l="l"/>
            <a:pathLst>
              <a:path h="1876124" w="2625618">
                <a:moveTo>
                  <a:pt x="0" y="0"/>
                </a:moveTo>
                <a:lnTo>
                  <a:pt x="2625619" y="0"/>
                </a:lnTo>
                <a:lnTo>
                  <a:pt x="2625619" y="1876124"/>
                </a:lnTo>
                <a:lnTo>
                  <a:pt x="0" y="187612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677994" y="3019876"/>
            <a:ext cx="10932011" cy="353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50"/>
              </a:lnSpc>
            </a:pPr>
            <a:r>
              <a:rPr lang="en-US" sz="15000">
                <a:solidFill>
                  <a:srgbClr val="FAF8F4"/>
                </a:solidFill>
                <a:latin typeface="เอฟซี แคนดี้"/>
                <a:ea typeface="เอฟซี แคนดี้"/>
                <a:cs typeface="เอฟซี แคนดี้"/>
                <a:sym typeface="เอฟซี แคนดี้"/>
              </a:rPr>
              <a:t>Thank</a:t>
            </a:r>
          </a:p>
          <a:p>
            <a:pPr algn="ctr">
              <a:lnSpc>
                <a:spcPts val="13350"/>
              </a:lnSpc>
            </a:pPr>
            <a:r>
              <a:rPr lang="en-US" sz="15000">
                <a:solidFill>
                  <a:srgbClr val="FAF8F4"/>
                </a:solidFill>
                <a:latin typeface="เอฟซี แคนดี้"/>
                <a:ea typeface="เอฟซี แคนดี้"/>
                <a:cs typeface="เอฟซี แคนดี้"/>
                <a:sym typeface="เอฟซี แคนดี้"/>
              </a:rPr>
              <a:t>You!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394153">
            <a:off x="6472121" y="1533763"/>
            <a:ext cx="4605039" cy="854025"/>
          </a:xfrm>
          <a:custGeom>
            <a:avLst/>
            <a:gdLst/>
            <a:ahLst/>
            <a:cxnLst/>
            <a:rect r="r" b="b" t="t" l="l"/>
            <a:pathLst>
              <a:path h="854025" w="4605039">
                <a:moveTo>
                  <a:pt x="0" y="0"/>
                </a:moveTo>
                <a:lnTo>
                  <a:pt x="4605039" y="0"/>
                </a:lnTo>
                <a:lnTo>
                  <a:pt x="4605039" y="854025"/>
                </a:lnTo>
                <a:lnTo>
                  <a:pt x="0" y="854025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8996715">
            <a:off x="-1818602" y="-1615299"/>
            <a:ext cx="4565737" cy="4114800"/>
          </a:xfrm>
          <a:custGeom>
            <a:avLst/>
            <a:gdLst/>
            <a:ahLst/>
            <a:cxnLst/>
            <a:rect r="r" b="b" t="t" l="l"/>
            <a:pathLst>
              <a:path h="4114800" w="4565737">
                <a:moveTo>
                  <a:pt x="0" y="0"/>
                </a:moveTo>
                <a:lnTo>
                  <a:pt x="4565737" y="0"/>
                </a:lnTo>
                <a:lnTo>
                  <a:pt x="45657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4218594">
            <a:off x="-1818602" y="7951694"/>
            <a:ext cx="4565737" cy="4114800"/>
          </a:xfrm>
          <a:custGeom>
            <a:avLst/>
            <a:gdLst/>
            <a:ahLst/>
            <a:cxnLst/>
            <a:rect r="r" b="b" t="t" l="l"/>
            <a:pathLst>
              <a:path h="4114800" w="4565737">
                <a:moveTo>
                  <a:pt x="0" y="0"/>
                </a:moveTo>
                <a:lnTo>
                  <a:pt x="4565737" y="0"/>
                </a:lnTo>
                <a:lnTo>
                  <a:pt x="45657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3924916" y="6902317"/>
            <a:ext cx="2263799" cy="2588134"/>
          </a:xfrm>
          <a:custGeom>
            <a:avLst/>
            <a:gdLst/>
            <a:ahLst/>
            <a:cxnLst/>
            <a:rect r="r" b="b" t="t" l="l"/>
            <a:pathLst>
              <a:path h="2588134" w="2263799">
                <a:moveTo>
                  <a:pt x="0" y="0"/>
                </a:moveTo>
                <a:lnTo>
                  <a:pt x="2263799" y="0"/>
                </a:lnTo>
                <a:lnTo>
                  <a:pt x="2263799" y="2588133"/>
                </a:lnTo>
                <a:lnTo>
                  <a:pt x="0" y="2588133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13990154" y="6976902"/>
            <a:ext cx="2133323" cy="2438964"/>
          </a:xfrm>
          <a:custGeom>
            <a:avLst/>
            <a:gdLst/>
            <a:ahLst/>
            <a:cxnLst/>
            <a:rect r="r" b="b" t="t" l="l"/>
            <a:pathLst>
              <a:path h="2438964" w="2133323">
                <a:moveTo>
                  <a:pt x="0" y="0"/>
                </a:moveTo>
                <a:lnTo>
                  <a:pt x="2133323" y="0"/>
                </a:lnTo>
                <a:lnTo>
                  <a:pt x="2133323" y="2438963"/>
                </a:lnTo>
                <a:lnTo>
                  <a:pt x="0" y="2438963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DAG8bATx52Q</dc:identifier>
  <dcterms:modified xsi:type="dcterms:W3CDTF">2011-08-01T06:04:30Z</dcterms:modified>
  <cp:revision>1</cp:revision>
  <dc:title>Blue and Brown Cute Pastel Plaid Group Project Presentation</dc:title>
</cp:coreProperties>
</file>